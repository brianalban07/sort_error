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6"/>
  </p:notesMasterIdLst>
  <p:sldIdLst>
    <p:sldId id="2147483646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6ECC"/>
    <a:srgbClr val="00B050"/>
    <a:srgbClr val="C9E8A8"/>
    <a:srgbClr val="92D050"/>
    <a:srgbClr val="1734AD"/>
    <a:srgbClr val="A5D259"/>
    <a:srgbClr val="A3CC54"/>
    <a:srgbClr val="006C93"/>
    <a:srgbClr val="005C83"/>
    <a:srgbClr val="0080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8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5C341-7210-4F38-ABD8-D11202178823}" type="datetimeFigureOut">
              <a:rPr lang="zh-TW" altLang="en-US" smtClean="0"/>
              <a:t>2026/10/2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D69D4-DD47-449F-B599-13612730EB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10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D69D4-DD47-449F-B599-13612730EB0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2118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 title slide 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0490" y="425669"/>
            <a:ext cx="7200000" cy="1960264"/>
          </a:xfrm>
        </p:spPr>
        <p:txBody>
          <a:bodyPr lIns="0" tIns="0" rIns="0" bIns="0" anchor="b">
            <a:normAutofit/>
          </a:bodyPr>
          <a:lstStyle>
            <a:lvl1pPr algn="l" rtl="0">
              <a:lnSpc>
                <a:spcPct val="100000"/>
              </a:lnSpc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  <a:br>
              <a:rPr lang="en-US" altLang="zh-TW" dirty="0"/>
            </a:br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9F332F9-A603-A418-4F1D-BE8820B8507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22033" y="2688144"/>
            <a:ext cx="4276133" cy="10327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TW" dirty="0"/>
              <a:t>Presenter’s Name </a:t>
            </a:r>
          </a:p>
          <a:p>
            <a:pPr lvl="0"/>
            <a:r>
              <a:rPr lang="en-US" altLang="zh-TW" dirty="0"/>
              <a:t>Presenter’s Dept.</a:t>
            </a:r>
          </a:p>
          <a:p>
            <a:pPr lvl="0"/>
            <a:r>
              <a:rPr lang="en-US" altLang="zh-TW" dirty="0" err="1"/>
              <a:t>yyyy</a:t>
            </a:r>
            <a:r>
              <a:rPr lang="en-US" altLang="zh-TW" dirty="0"/>
              <a:t>/mm/dd</a:t>
            </a:r>
          </a:p>
          <a:p>
            <a:pPr lvl="0"/>
            <a:endParaRPr lang="en-US" altLang="zh-TW" dirty="0"/>
          </a:p>
        </p:txBody>
      </p:sp>
      <p:pic>
        <p:nvPicPr>
          <p:cNvPr id="5" name="圖片 4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BE5A06D7-9E47-DB88-5FA9-23A9929D28B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980" y="4480145"/>
            <a:ext cx="1778329" cy="76946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E380CBB-C9E3-E3C2-EFDE-60E68C44D538}"/>
              </a:ext>
            </a:extLst>
          </p:cNvPr>
          <p:cNvSpPr/>
          <p:nvPr userDrawn="1"/>
        </p:nvSpPr>
        <p:spPr>
          <a:xfrm>
            <a:off x="404218" y="2724969"/>
            <a:ext cx="36000" cy="482575"/>
          </a:xfrm>
          <a:prstGeom prst="rect">
            <a:avLst/>
          </a:prstGeom>
          <a:solidFill>
            <a:srgbClr val="A3CC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319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_White_Section_header">
    <p:bg>
      <p:bgPr>
        <a:solidFill>
          <a:srgbClr val="006C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6584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4" name="圖片 3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E13D9758-F35A-B624-C859-4FE06BC913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784" y="4576146"/>
            <a:ext cx="1311215" cy="56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5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stron_T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285" y="827773"/>
            <a:ext cx="8639999" cy="4023432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/>
            </a:lvl1pPr>
            <a:lvl5pPr marL="13716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  <a:p>
            <a:pPr lvl="4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85" y="191586"/>
            <a:ext cx="8640000" cy="486993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232826" y="4878474"/>
            <a:ext cx="514108" cy="273844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F9348E-7206-859C-74F0-F78517907597}"/>
              </a:ext>
            </a:extLst>
          </p:cNvPr>
          <p:cNvSpPr/>
          <p:nvPr userDrawn="1"/>
        </p:nvSpPr>
        <p:spPr>
          <a:xfrm>
            <a:off x="0" y="0"/>
            <a:ext cx="57600" cy="576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716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85" y="191586"/>
            <a:ext cx="8640000" cy="486993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232826" y="4878474"/>
            <a:ext cx="514108" cy="273844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F9348E-7206-859C-74F0-F78517907597}"/>
              </a:ext>
            </a:extLst>
          </p:cNvPr>
          <p:cNvSpPr/>
          <p:nvPr userDrawn="1"/>
        </p:nvSpPr>
        <p:spPr>
          <a:xfrm>
            <a:off x="0" y="0"/>
            <a:ext cx="57600" cy="576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63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359E75-9596-4784-B8E5-06F828D80529}"/>
              </a:ext>
            </a:extLst>
          </p:cNvPr>
          <p:cNvSpPr/>
          <p:nvPr userDrawn="1"/>
        </p:nvSpPr>
        <p:spPr>
          <a:xfrm>
            <a:off x="0" y="0"/>
            <a:ext cx="173255" cy="5101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66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e_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4761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3" name="圖片 2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A29B1802-2694-3DED-D132-3B6EF74343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346" y="4475747"/>
            <a:ext cx="1743460" cy="75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0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e_page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4761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3" name="圖片 2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A29B1802-2694-3DED-D132-3B6EF74343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346" y="4475747"/>
            <a:ext cx="1743460" cy="75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5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Wistron_T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CDD57793-CC5D-32B4-FBEA-C7AE357F751D}"/>
              </a:ext>
            </a:extLst>
          </p:cNvPr>
          <p:cNvGrpSpPr/>
          <p:nvPr userDrawn="1"/>
        </p:nvGrpSpPr>
        <p:grpSpPr>
          <a:xfrm>
            <a:off x="4595689" y="756000"/>
            <a:ext cx="4500001" cy="2757564"/>
            <a:chOff x="4571999" y="756000"/>
            <a:chExt cx="4500001" cy="2052000"/>
          </a:xfrm>
        </p:grpSpPr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ED688293-2301-7DC5-8114-7F123A6014C0}"/>
                </a:ext>
              </a:extLst>
            </p:cNvPr>
            <p:cNvSpPr txBox="1"/>
            <p:nvPr userDrawn="1"/>
          </p:nvSpPr>
          <p:spPr>
            <a:xfrm>
              <a:off x="4572000" y="756000"/>
              <a:ext cx="4500000" cy="180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 lIns="36000" tIns="0" rIns="36000" bIns="0" rtlCol="0" anchor="ctr" anchorCtr="0">
              <a:noAutofit/>
            </a:bodyPr>
            <a:lstStyle/>
            <a:p>
              <a:r>
                <a:rPr lang="en-US" altLang="zh-TW" sz="1200" b="1">
                  <a:solidFill>
                    <a:schemeClr val="bg1"/>
                  </a:solidFill>
                </a:rPr>
                <a:t>Issue Tracking</a:t>
              </a:r>
              <a:endParaRPr lang="zh-TW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E9BEF0E-1EA6-0F32-68E4-2C6A705C0236}"/>
                </a:ext>
              </a:extLst>
            </p:cNvPr>
            <p:cNvSpPr/>
            <p:nvPr userDrawn="1"/>
          </p:nvSpPr>
          <p:spPr>
            <a:xfrm>
              <a:off x="4571999" y="756000"/>
              <a:ext cx="4499999" cy="2052000"/>
            </a:xfrm>
            <a:prstGeom prst="rect">
              <a:avLst/>
            </a:prstGeom>
            <a:noFill/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50FBC900-AEC2-C524-A56B-949B00D845D0}"/>
              </a:ext>
            </a:extLst>
          </p:cNvPr>
          <p:cNvSpPr txBox="1"/>
          <p:nvPr userDrawn="1"/>
        </p:nvSpPr>
        <p:spPr>
          <a:xfrm>
            <a:off x="56966" y="756000"/>
            <a:ext cx="4497299" cy="180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en-US" altLang="zh-TW" sz="1200" b="1">
                <a:solidFill>
                  <a:schemeClr val="bg1"/>
                </a:solidFill>
              </a:rPr>
              <a:t>Good point of project.</a:t>
            </a:r>
            <a:endParaRPr lang="zh-TW" altLang="en-US" sz="1200" b="1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B695BD-0023-26C0-0B51-72B5CB49168D}"/>
              </a:ext>
            </a:extLst>
          </p:cNvPr>
          <p:cNvSpPr/>
          <p:nvPr userDrawn="1"/>
        </p:nvSpPr>
        <p:spPr>
          <a:xfrm>
            <a:off x="59667" y="756000"/>
            <a:ext cx="4497299" cy="414000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59689" y="936000"/>
            <a:ext cx="4500000" cy="3960000"/>
          </a:xfrm>
          <a:prstGeom prst="rect">
            <a:avLst/>
          </a:prstGeom>
        </p:spPr>
        <p:txBody>
          <a:bodyPr lIns="36000" tIns="18000" rIns="36000" bIns="18000"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251285" y="191586"/>
            <a:ext cx="8640000" cy="486993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0" y="4878474"/>
            <a:ext cx="251285" cy="265026"/>
          </a:xfrm>
        </p:spPr>
        <p:txBody>
          <a:bodyPr lIns="36000" tIns="0" rIns="36000" bIns="0"/>
          <a:lstStyle>
            <a:lvl1pPr algn="r">
              <a:defRPr/>
            </a:lvl1pPr>
          </a:lstStyle>
          <a:p>
            <a:fld id="{EACF097E-CCF1-4241-87BD-030B3D15E719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F9348E-7206-859C-74F0-F78517907597}"/>
              </a:ext>
            </a:extLst>
          </p:cNvPr>
          <p:cNvSpPr/>
          <p:nvPr userDrawn="1"/>
        </p:nvSpPr>
        <p:spPr>
          <a:xfrm>
            <a:off x="0" y="0"/>
            <a:ext cx="57600" cy="576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7EC859-5953-72B4-7CF4-A9E32BFD2D0F}"/>
              </a:ext>
            </a:extLst>
          </p:cNvPr>
          <p:cNvSpPr>
            <a:spLocks noGrp="1"/>
          </p:cNvSpPr>
          <p:nvPr userDrawn="1">
            <p:ph idx="13"/>
          </p:nvPr>
        </p:nvSpPr>
        <p:spPr>
          <a:xfrm>
            <a:off x="4595690" y="980813"/>
            <a:ext cx="4500000" cy="2532751"/>
          </a:xfrm>
          <a:prstGeom prst="rect">
            <a:avLst/>
          </a:prstGeom>
        </p:spPr>
        <p:txBody>
          <a:bodyPr lIns="36000" tIns="18000" rIns="36000" bIns="18000"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E1026A-2427-5756-D8D3-6016CB03BB66}"/>
              </a:ext>
            </a:extLst>
          </p:cNvPr>
          <p:cNvSpPr>
            <a:spLocks noGrp="1"/>
          </p:cNvSpPr>
          <p:nvPr userDrawn="1">
            <p:ph idx="15"/>
          </p:nvPr>
        </p:nvSpPr>
        <p:spPr>
          <a:xfrm>
            <a:off x="4595690" y="3905693"/>
            <a:ext cx="4500000" cy="990306"/>
          </a:xfrm>
          <a:prstGeom prst="rect">
            <a:avLst/>
          </a:prstGeom>
        </p:spPr>
        <p:txBody>
          <a:bodyPr lIns="36000" tIns="36000" rIns="36000"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4F0823B-35EB-1DEC-5A52-355D364C3DDB}"/>
              </a:ext>
            </a:extLst>
          </p:cNvPr>
          <p:cNvSpPr txBox="1"/>
          <p:nvPr userDrawn="1"/>
        </p:nvSpPr>
        <p:spPr>
          <a:xfrm>
            <a:off x="4571285" y="3333564"/>
            <a:ext cx="4500000" cy="180000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</a:ln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en-US" altLang="zh-TW" sz="1200" b="1">
                <a:solidFill>
                  <a:schemeClr val="bg1"/>
                </a:solidFill>
              </a:rPr>
              <a:t>Next week job</a:t>
            </a:r>
            <a:endParaRPr lang="zh-TW" altLang="en-US" sz="1200" b="1">
              <a:solidFill>
                <a:schemeClr val="bg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FC94A76-0FF3-8124-6DAD-35BDE36C2D79}"/>
              </a:ext>
            </a:extLst>
          </p:cNvPr>
          <p:cNvSpPr/>
          <p:nvPr userDrawn="1"/>
        </p:nvSpPr>
        <p:spPr>
          <a:xfrm>
            <a:off x="4595690" y="3513564"/>
            <a:ext cx="4500000" cy="1382436"/>
          </a:xfrm>
          <a:prstGeom prst="rect">
            <a:avLst/>
          </a:prstGeom>
          <a:noFill/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458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27228A8-04AD-9D1E-3CC6-18257DDBC3ED}"/>
              </a:ext>
            </a:extLst>
          </p:cNvPr>
          <p:cNvSpPr/>
          <p:nvPr userDrawn="1"/>
        </p:nvSpPr>
        <p:spPr>
          <a:xfrm>
            <a:off x="0" y="0"/>
            <a:ext cx="57600" cy="432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536B603-0E7E-A823-3FA4-C1932C849D97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0" y="4905756"/>
            <a:ext cx="9144000" cy="23774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285" y="85708"/>
            <a:ext cx="8640000" cy="48699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232826" y="4878474"/>
            <a:ext cx="5141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EACF097E-CCF1-4241-87BD-030B3D15E719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1436069-A2B2-D84E-7D35-D879AA8BD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285" y="718956"/>
            <a:ext cx="8639999" cy="4132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922750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3" r:id="rId2"/>
    <p:sldLayoutId id="2147483681" r:id="rId3"/>
    <p:sldLayoutId id="2147483684" r:id="rId4"/>
    <p:sldLayoutId id="2147483667" r:id="rId5"/>
    <p:sldLayoutId id="2147483682" r:id="rId6"/>
    <p:sldLayoutId id="2147483683" r:id="rId7"/>
    <p:sldLayoutId id="2147483689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2">
            <a:extLst>
              <a:ext uri="{FF2B5EF4-FFF2-40B4-BE49-F238E27FC236}">
                <a16:creationId xmlns:a16="http://schemas.microsoft.com/office/drawing/2014/main" id="{CC459A10-17F8-DDD8-83C6-1CE2DE776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88" y="1290036"/>
            <a:ext cx="4460997" cy="178087"/>
          </a:xfrm>
          <a:prstGeom prst="rect">
            <a:avLst/>
          </a:prstGeom>
          <a:solidFill>
            <a:srgbClr val="00B050"/>
          </a:solidFill>
          <a:ln w="12700" algn="ctr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lIns="72632" tIns="72632" rIns="72632" bIns="72632" anchor="ctr"/>
          <a:lstStyle>
            <a:lvl1pPr defTabSz="89535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193675" indent="-192088" defTabSz="8953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457200" indent="-261938" defTabSz="89535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614363" indent="-155575" defTabSz="89535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746125" indent="-130175" defTabSz="89535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defTabSz="895328">
              <a:buClr>
                <a:srgbClr val="002960"/>
              </a:buClr>
              <a:defRPr/>
            </a:pPr>
            <a:r>
              <a:rPr kumimoji="0" lang="en-US" altLang="zh-CN" sz="12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Project Status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4FA31-ED09-B222-CFD5-A741B8EE1B32}"/>
              </a:ext>
            </a:extLst>
          </p:cNvPr>
          <p:cNvSpPr txBox="1"/>
          <p:nvPr/>
        </p:nvSpPr>
        <p:spPr>
          <a:xfrm>
            <a:off x="8426675" y="4664541"/>
            <a:ext cx="83267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Pic: Brian/TE</a:t>
            </a:r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854B1B44-01DA-C730-5743-AA8483868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1" y="749065"/>
            <a:ext cx="4500824" cy="188983"/>
          </a:xfrm>
          <a:prstGeom prst="rect">
            <a:avLst/>
          </a:prstGeom>
          <a:solidFill>
            <a:srgbClr val="0070C0"/>
          </a:solidFill>
          <a:ln w="12700" algn="ctr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lIns="72632" tIns="72632" rIns="72632" bIns="72632" anchor="ctr"/>
          <a:lstStyle>
            <a:lvl1pPr defTabSz="89535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193675" indent="-192088" defTabSz="8953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457200" indent="-261938" defTabSz="89535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614363" indent="-155575" defTabSz="89535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746125" indent="-130175" defTabSz="89535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defTabSz="895328">
              <a:buClr>
                <a:srgbClr val="002960"/>
              </a:buClr>
              <a:defRPr/>
            </a:pPr>
            <a:r>
              <a:rPr kumimoji="0" lang="en-US" altLang="zh-CN" sz="12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Highlight ( NV Diagnostic Validation 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FA656A-E12C-BF46-B6AF-CF881C763EF7}"/>
              </a:ext>
            </a:extLst>
          </p:cNvPr>
          <p:cNvSpPr txBox="1"/>
          <p:nvPr/>
        </p:nvSpPr>
        <p:spPr>
          <a:xfrm>
            <a:off x="3851130" y="4675074"/>
            <a:ext cx="72087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Pic: Brian/TE</a:t>
            </a:r>
          </a:p>
        </p:txBody>
      </p:sp>
      <p:sp>
        <p:nvSpPr>
          <p:cNvPr id="12" name="矩形 10">
            <a:extLst>
              <a:ext uri="{FF2B5EF4-FFF2-40B4-BE49-F238E27FC236}">
                <a16:creationId xmlns:a16="http://schemas.microsoft.com/office/drawing/2014/main" id="{67041119-8851-4462-BDA1-88591AC3AB17}"/>
              </a:ext>
            </a:extLst>
          </p:cNvPr>
          <p:cNvSpPr/>
          <p:nvPr/>
        </p:nvSpPr>
        <p:spPr>
          <a:xfrm>
            <a:off x="4572000" y="3544294"/>
            <a:ext cx="4372027" cy="154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7337" lvl="1" indent="-285750" defTabSz="895350">
              <a:lnSpc>
                <a:spcPct val="150000"/>
              </a:lnSpc>
              <a:buClr>
                <a:srgbClr val="002960"/>
              </a:buClr>
              <a:buSzPct val="125000"/>
              <a:buFont typeface="Wingdings" panose="05000000000000000000" pitchFamily="2" charset="2"/>
              <a:buChar char="q"/>
              <a:tabLst>
                <a:tab pos="800100" algn="dec"/>
              </a:tabLst>
            </a:pPr>
            <a:r>
              <a:rPr lang="en-US" altLang="zh-TW" sz="900" dirty="0">
                <a:solidFill>
                  <a:srgbClr val="000000"/>
                </a:solidFill>
                <a:cs typeface="Arial"/>
              </a:rPr>
              <a:t>Support DIAG NPI/MP Validation All Model</a:t>
            </a:r>
          </a:p>
          <a:p>
            <a:pPr marL="287337" lvl="1" indent="-285750" defTabSz="895350">
              <a:lnSpc>
                <a:spcPct val="150000"/>
              </a:lnSpc>
              <a:buClr>
                <a:srgbClr val="002960"/>
              </a:buClr>
              <a:buSzPct val="125000"/>
              <a:buFont typeface="Wingdings" panose="05000000000000000000" pitchFamily="2" charset="2"/>
              <a:buChar char="q"/>
              <a:tabLst>
                <a:tab pos="800100" algn="dec"/>
              </a:tabLst>
            </a:pPr>
            <a:r>
              <a:rPr lang="en-US" altLang="zh-TW" sz="900" dirty="0">
                <a:solidFill>
                  <a:srgbClr val="000000"/>
                </a:solidFill>
                <a:cs typeface="Arial"/>
              </a:rPr>
              <a:t>Support Production Testing &amp; Inline-Debugging</a:t>
            </a:r>
          </a:p>
          <a:p>
            <a:pPr marL="287337" lvl="1" indent="-285750" defTabSz="895350">
              <a:lnSpc>
                <a:spcPct val="150000"/>
              </a:lnSpc>
              <a:buClr>
                <a:srgbClr val="002960"/>
              </a:buClr>
              <a:buSzPct val="125000"/>
              <a:buFont typeface="Wingdings" panose="05000000000000000000" pitchFamily="2" charset="2"/>
              <a:buChar char="q"/>
              <a:tabLst>
                <a:tab pos="800100" algn="dec"/>
              </a:tabLst>
            </a:pPr>
            <a:r>
              <a:rPr lang="en-US" altLang="zh-TW" sz="900" dirty="0">
                <a:solidFill>
                  <a:srgbClr val="000000"/>
                </a:solidFill>
                <a:cs typeface="Arial"/>
              </a:rPr>
              <a:t>Maintain fresh/re-work MO for PD Testing</a:t>
            </a:r>
          </a:p>
          <a:p>
            <a:pPr marL="287337" lvl="1" indent="-285750" defTabSz="895350">
              <a:lnSpc>
                <a:spcPct val="150000"/>
              </a:lnSpc>
              <a:buClr>
                <a:srgbClr val="002960"/>
              </a:buClr>
              <a:buSzPct val="125000"/>
              <a:buFont typeface="Wingdings" panose="05000000000000000000" pitchFamily="2" charset="2"/>
              <a:buChar char="q"/>
              <a:tabLst>
                <a:tab pos="800100" algn="dec"/>
              </a:tabLst>
            </a:pPr>
            <a:r>
              <a:rPr lang="en-US" altLang="zh-TW" sz="900" dirty="0">
                <a:solidFill>
                  <a:srgbClr val="000000"/>
                </a:solidFill>
                <a:cs typeface="Arial"/>
              </a:rPr>
              <a:t>Monitor and replace damaged RJ45 at POD5.</a:t>
            </a:r>
          </a:p>
          <a:p>
            <a:pPr marL="287337" lvl="1" indent="-285750" defTabSz="895350">
              <a:lnSpc>
                <a:spcPct val="150000"/>
              </a:lnSpc>
              <a:buClr>
                <a:srgbClr val="002960"/>
              </a:buClr>
              <a:buSzPct val="125000"/>
              <a:buFont typeface="Wingdings" panose="05000000000000000000" pitchFamily="2" charset="2"/>
              <a:buChar char="q"/>
              <a:tabLst>
                <a:tab pos="800100" algn="dec"/>
              </a:tabLst>
            </a:pPr>
            <a:r>
              <a:rPr lang="en-US" altLang="zh-TW" sz="900" dirty="0">
                <a:solidFill>
                  <a:srgbClr val="000000"/>
                </a:solidFill>
                <a:cs typeface="Arial"/>
              </a:rPr>
              <a:t>Create new SOW in TE DL Process</a:t>
            </a:r>
          </a:p>
          <a:p>
            <a:pPr marL="287337" lvl="1" indent="-285750" defTabSz="895350">
              <a:lnSpc>
                <a:spcPct val="150000"/>
              </a:lnSpc>
              <a:buClr>
                <a:srgbClr val="002960"/>
              </a:buClr>
              <a:buSzPct val="125000"/>
              <a:buFont typeface="Wingdings" panose="05000000000000000000" pitchFamily="2" charset="2"/>
              <a:buChar char="q"/>
              <a:tabLst>
                <a:tab pos="800100" algn="dec"/>
              </a:tabLst>
            </a:pPr>
            <a:r>
              <a:rPr lang="en-US" altLang="zh-TW" sz="900" dirty="0">
                <a:solidFill>
                  <a:srgbClr val="000000"/>
                </a:solidFill>
                <a:cs typeface="Arial"/>
              </a:rPr>
              <a:t>Learn and familiarize Strata Testing at N2 Site</a:t>
            </a:r>
          </a:p>
          <a:p>
            <a:pPr marL="1587" lvl="1" defTabSz="895350">
              <a:lnSpc>
                <a:spcPct val="150000"/>
              </a:lnSpc>
              <a:buClr>
                <a:srgbClr val="002960"/>
              </a:buClr>
              <a:buSzPct val="125000"/>
              <a:tabLst>
                <a:tab pos="800100" algn="dec"/>
              </a:tabLst>
            </a:pPr>
            <a:endParaRPr lang="en-US" altLang="zh-TW" sz="10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15" name="標題 2">
            <a:extLst>
              <a:ext uri="{FF2B5EF4-FFF2-40B4-BE49-F238E27FC236}">
                <a16:creationId xmlns:a16="http://schemas.microsoft.com/office/drawing/2014/main" id="{61F77607-12EC-4B8C-B511-2A9D96A2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59" y="133629"/>
            <a:ext cx="8640000" cy="486993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微軟正黑體"/>
              </a:rPr>
              <a:t>EDT200 TE </a:t>
            </a:r>
            <a:r>
              <a:rPr kumimoji="0" lang="en-US" altLang="zh-TW" sz="3200" dirty="0">
                <a:ea typeface="微軟正黑體"/>
              </a:rPr>
              <a:t>Weekly Report _</a:t>
            </a:r>
            <a:r>
              <a:rPr lang="en-US" altLang="zh-TW" sz="3200" dirty="0">
                <a:ea typeface="微軟正黑體"/>
              </a:rPr>
              <a:t>WK40 (Brian)</a:t>
            </a:r>
            <a:endParaRPr lang="en-US" altLang="zh-TW" b="1" dirty="0"/>
          </a:p>
        </p:txBody>
      </p:sp>
      <p:sp>
        <p:nvSpPr>
          <p:cNvPr id="11" name="內容版面配置區 5">
            <a:extLst>
              <a:ext uri="{FF2B5EF4-FFF2-40B4-BE49-F238E27FC236}">
                <a16:creationId xmlns:a16="http://schemas.microsoft.com/office/drawing/2014/main" id="{A8D7B10D-A35B-454D-BCA4-94C8AF875B98}"/>
              </a:ext>
            </a:extLst>
          </p:cNvPr>
          <p:cNvSpPr txBox="1">
            <a:spLocks/>
          </p:cNvSpPr>
          <p:nvPr/>
        </p:nvSpPr>
        <p:spPr>
          <a:xfrm>
            <a:off x="71176" y="1465334"/>
            <a:ext cx="4587534" cy="3374769"/>
          </a:xfrm>
          <a:prstGeom prst="rect">
            <a:avLst/>
          </a:prstGeom>
        </p:spPr>
        <p:txBody>
          <a:bodyPr vert="horz" lIns="36000" tIns="36000" rIns="36000" bIns="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7" lvl="1" defTabSz="895350">
              <a:lnSpc>
                <a:spcPct val="150000"/>
              </a:lnSpc>
              <a:spcBef>
                <a:spcPts val="0"/>
              </a:spcBef>
              <a:buClr>
                <a:srgbClr val="002960"/>
              </a:buClr>
              <a:buSzPct val="125000"/>
              <a:buFont typeface="Wingdings" panose="05000000000000000000" pitchFamily="2" charset="2"/>
              <a:buChar char="Ø"/>
              <a:tabLst>
                <a:tab pos="800100" algn="dec"/>
              </a:tabLst>
              <a:defRPr/>
            </a:pPr>
            <a:r>
              <a:rPr lang="en-US" altLang="zh-TW" sz="1000" b="1" kern="0" dirty="0">
                <a:solidFill>
                  <a:srgbClr val="292929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[PG548] – POD4 Support New Build Rack</a:t>
            </a:r>
          </a:p>
          <a:p>
            <a:pPr marL="515937" lvl="2" defTabSz="895350">
              <a:lnSpc>
                <a:spcPct val="150000"/>
              </a:lnSpc>
              <a:spcBef>
                <a:spcPts val="0"/>
              </a:spcBef>
              <a:buClr>
                <a:srgbClr val="002960"/>
              </a:buClr>
              <a:buSzPct val="125000"/>
              <a:buFont typeface="Wingdings" panose="05000000000000000000" pitchFamily="2" charset="2"/>
              <a:buChar char="n"/>
              <a:tabLst>
                <a:tab pos="800100" algn="dec"/>
              </a:tabLst>
              <a:defRPr/>
            </a:pPr>
            <a:r>
              <a:rPr lang="fr-FR" altLang="zh-TW" sz="900" kern="0" dirty="0">
                <a:solidFill>
                  <a:srgbClr val="292929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09/29~ 10/01 – </a:t>
            </a:r>
            <a:r>
              <a:rPr lang="en-US" altLang="zh-TW" sz="900" kern="0" dirty="0">
                <a:solidFill>
                  <a:srgbClr val="292929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Cable Routing at POD 4 PG548 54 racks </a:t>
            </a:r>
            <a:r>
              <a:rPr lang="en-US" altLang="zh-TW" sz="900" b="1" kern="0" dirty="0">
                <a:solidFill>
                  <a:srgbClr val="292929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– </a:t>
            </a:r>
            <a:r>
              <a:rPr lang="en-US" altLang="zh-TW" sz="900" b="1" kern="0" dirty="0">
                <a:solidFill>
                  <a:srgbClr val="00B050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Completed</a:t>
            </a:r>
          </a:p>
          <a:p>
            <a:pPr marL="515937" lvl="2" defTabSz="895350">
              <a:lnSpc>
                <a:spcPct val="150000"/>
              </a:lnSpc>
              <a:spcBef>
                <a:spcPts val="0"/>
              </a:spcBef>
              <a:buClr>
                <a:srgbClr val="002960"/>
              </a:buClr>
              <a:buSzPct val="125000"/>
              <a:buFont typeface="Wingdings" panose="05000000000000000000" pitchFamily="2" charset="2"/>
              <a:buChar char="n"/>
              <a:tabLst>
                <a:tab pos="800100" algn="dec"/>
              </a:tabLst>
              <a:defRPr/>
            </a:pPr>
            <a:r>
              <a:rPr lang="en-US" altLang="zh-TW" sz="900" kern="0" dirty="0"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Rack 27 ~ 30 – Strata Rack Build 4 racks- </a:t>
            </a:r>
            <a:r>
              <a:rPr lang="en-US" altLang="zh-TW" sz="900" b="1" kern="0" dirty="0">
                <a:solidFill>
                  <a:srgbClr val="00B0F0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Ongoing</a:t>
            </a:r>
          </a:p>
          <a:p>
            <a:pPr marL="515937" lvl="2" defTabSz="895350">
              <a:lnSpc>
                <a:spcPct val="150000"/>
              </a:lnSpc>
              <a:spcBef>
                <a:spcPts val="0"/>
              </a:spcBef>
              <a:buClr>
                <a:srgbClr val="002960"/>
              </a:buClr>
              <a:buSzPct val="125000"/>
              <a:buFont typeface="Wingdings" panose="05000000000000000000" pitchFamily="2" charset="2"/>
              <a:buChar char="Ø"/>
              <a:tabLst>
                <a:tab pos="800100" algn="dec"/>
              </a:tabLst>
              <a:defRPr/>
            </a:pPr>
            <a:r>
              <a:rPr lang="en-US" altLang="zh-TW" sz="900" kern="0" dirty="0">
                <a:solidFill>
                  <a:srgbClr val="292929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Purpose : Support Build New Rack use for PG548 MP Automation</a:t>
            </a:r>
          </a:p>
          <a:p>
            <a:pPr marL="173037" lvl="1" defTabSz="895350">
              <a:lnSpc>
                <a:spcPct val="150000"/>
              </a:lnSpc>
              <a:spcBef>
                <a:spcPts val="0"/>
              </a:spcBef>
              <a:buClr>
                <a:srgbClr val="002960"/>
              </a:buClr>
              <a:buSzPct val="125000"/>
              <a:buFont typeface="Wingdings" panose="05000000000000000000" pitchFamily="2" charset="2"/>
              <a:buChar char="Ø"/>
              <a:tabLst>
                <a:tab pos="800100" algn="dec"/>
              </a:tabLst>
              <a:defRPr/>
            </a:pPr>
            <a:r>
              <a:rPr lang="en-US" altLang="zh-TW" sz="1000" b="1" kern="0" dirty="0">
                <a:solidFill>
                  <a:srgbClr val="292929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[PG548] – PD/FAE Support</a:t>
            </a:r>
          </a:p>
          <a:p>
            <a:pPr marL="515937" lvl="2" defTabSz="895350">
              <a:lnSpc>
                <a:spcPct val="150000"/>
              </a:lnSpc>
              <a:spcBef>
                <a:spcPts val="0"/>
              </a:spcBef>
              <a:buClr>
                <a:srgbClr val="002960"/>
              </a:buClr>
              <a:buSzPct val="125000"/>
              <a:buFont typeface="Wingdings" panose="05000000000000000000" pitchFamily="2" charset="2"/>
              <a:buChar char="n"/>
              <a:tabLst>
                <a:tab pos="800100" algn="dec"/>
              </a:tabLst>
              <a:defRPr/>
            </a:pPr>
            <a:r>
              <a:rPr lang="en-US" altLang="zh-TW" sz="900" kern="0" dirty="0">
                <a:solidFill>
                  <a:srgbClr val="292929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09/29 ~  10/02:  Support the FAE Department with PCIe FW flashing for the EC_814 error - </a:t>
            </a:r>
            <a:r>
              <a:rPr lang="en-US" altLang="zh-TW" sz="900" b="1" kern="0" dirty="0">
                <a:solidFill>
                  <a:srgbClr val="00B0F0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Ongoing</a:t>
            </a:r>
          </a:p>
          <a:p>
            <a:pPr marL="515937" lvl="2" defTabSz="895350">
              <a:lnSpc>
                <a:spcPct val="150000"/>
              </a:lnSpc>
              <a:spcBef>
                <a:spcPts val="0"/>
              </a:spcBef>
              <a:buClr>
                <a:srgbClr val="002960"/>
              </a:buClr>
              <a:buSzPct val="125000"/>
              <a:buFont typeface="Wingdings" panose="05000000000000000000" pitchFamily="2" charset="2"/>
              <a:buChar char="Ø"/>
              <a:tabLst>
                <a:tab pos="800100" algn="dec"/>
              </a:tabLst>
              <a:defRPr/>
            </a:pPr>
            <a:r>
              <a:rPr lang="en-US" altLang="zh-TW" sz="900" kern="0" dirty="0">
                <a:solidFill>
                  <a:srgbClr val="292929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Purpose :To resolve the issue and support the FAE team in continuing repair and testing activities.</a:t>
            </a:r>
          </a:p>
          <a:p>
            <a:pPr marL="515937" lvl="2" defTabSz="895350">
              <a:lnSpc>
                <a:spcPct val="150000"/>
              </a:lnSpc>
              <a:spcBef>
                <a:spcPts val="0"/>
              </a:spcBef>
              <a:buClr>
                <a:srgbClr val="002960"/>
              </a:buClr>
              <a:buSzPct val="125000"/>
              <a:buFont typeface="Wingdings" panose="05000000000000000000" pitchFamily="2" charset="2"/>
              <a:buChar char="n"/>
              <a:tabLst>
                <a:tab pos="800100" algn="dec"/>
              </a:tabLst>
              <a:defRPr/>
            </a:pPr>
            <a:r>
              <a:rPr lang="en-US" altLang="zh-TW" sz="900" kern="0" dirty="0">
                <a:solidFill>
                  <a:srgbClr val="292929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09/29 ~  10/02:  Support PD/FAE maintain MO in Fusioneye/Odin ( 8 pcs)</a:t>
            </a:r>
          </a:p>
          <a:p>
            <a:pPr marL="515937" lvl="2" defTabSz="895350">
              <a:lnSpc>
                <a:spcPct val="150000"/>
              </a:lnSpc>
              <a:spcBef>
                <a:spcPts val="0"/>
              </a:spcBef>
              <a:buClr>
                <a:srgbClr val="002960"/>
              </a:buClr>
              <a:buSzPct val="125000"/>
              <a:buFont typeface="Wingdings" panose="05000000000000000000" pitchFamily="2" charset="2"/>
              <a:buChar char="Ø"/>
              <a:tabLst>
                <a:tab pos="800100" algn="dec"/>
              </a:tabLst>
              <a:defRPr/>
            </a:pPr>
            <a:r>
              <a:rPr lang="en-US" altLang="zh-TW" sz="900" kern="0" dirty="0">
                <a:solidFill>
                  <a:srgbClr val="292929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Purpose : To assist PD and FAE testing use correct diag to avoid delays and issues.</a:t>
            </a:r>
          </a:p>
          <a:p>
            <a:pPr marL="173037" lvl="1" defTabSz="895350">
              <a:lnSpc>
                <a:spcPct val="150000"/>
              </a:lnSpc>
              <a:spcBef>
                <a:spcPts val="0"/>
              </a:spcBef>
              <a:buClr>
                <a:srgbClr val="002960"/>
              </a:buClr>
              <a:buSzPct val="125000"/>
              <a:buFont typeface="Wingdings" panose="05000000000000000000" pitchFamily="2" charset="2"/>
              <a:buChar char="Ø"/>
              <a:tabLst>
                <a:tab pos="800100" algn="dec"/>
              </a:tabLst>
              <a:defRPr/>
            </a:pPr>
            <a:r>
              <a:rPr lang="en-US" altLang="zh-TW" sz="1000" b="1" kern="0" dirty="0">
                <a:solidFill>
                  <a:srgbClr val="292929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[PG548] – Validation Support</a:t>
            </a:r>
          </a:p>
          <a:p>
            <a:pPr marL="515937" lvl="2" defTabSz="895350">
              <a:lnSpc>
                <a:spcPct val="150000"/>
              </a:lnSpc>
              <a:spcBef>
                <a:spcPts val="0"/>
              </a:spcBef>
              <a:buClr>
                <a:srgbClr val="002960"/>
              </a:buClr>
              <a:buSzPct val="125000"/>
              <a:buFont typeface="Wingdings" panose="05000000000000000000" pitchFamily="2" charset="2"/>
              <a:buChar char="n"/>
              <a:tabLst>
                <a:tab pos="800100" algn="dec"/>
              </a:tabLst>
              <a:defRPr/>
            </a:pPr>
            <a:r>
              <a:rPr lang="fr-FR" altLang="zh-TW" sz="900" kern="0" dirty="0">
                <a:solidFill>
                  <a:srgbClr val="292929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10/01 – </a:t>
            </a:r>
            <a:r>
              <a:rPr lang="en-US" altLang="zh-TW" sz="900" kern="0" dirty="0">
                <a:solidFill>
                  <a:srgbClr val="292929"/>
                </a:solidFill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Remove 18 pcs tray use in FCT Loop Validation</a:t>
            </a:r>
            <a:endParaRPr lang="en-US" altLang="zh-TW" sz="900" b="1" kern="0" dirty="0">
              <a:solidFill>
                <a:srgbClr val="00B050"/>
              </a:solidFill>
              <a:latin typeface="+mj-lt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515937" lvl="2" defTabSz="895350">
              <a:lnSpc>
                <a:spcPct val="150000"/>
              </a:lnSpc>
              <a:spcBef>
                <a:spcPts val="0"/>
              </a:spcBef>
              <a:buClr>
                <a:srgbClr val="002960"/>
              </a:buClr>
              <a:buSzPct val="125000"/>
              <a:buFont typeface="Wingdings" panose="05000000000000000000" pitchFamily="2" charset="2"/>
              <a:buChar char="n"/>
              <a:tabLst>
                <a:tab pos="800100" algn="dec"/>
              </a:tabLst>
              <a:defRPr/>
            </a:pPr>
            <a:r>
              <a:rPr lang="en-US" altLang="zh-TW" sz="900" kern="0" dirty="0">
                <a:latin typeface="+mj-lt"/>
                <a:ea typeface="微軟正黑體" panose="020B0604030504040204" pitchFamily="34" charset="-120"/>
                <a:cs typeface="Calibri" panose="020F0502020204030204" pitchFamily="34" charset="0"/>
              </a:rPr>
              <a:t>9/29 ~ 30 – Borrow 2 DUT of GB300(900-2G548-0081-001) and setup at POD5 used for validation</a:t>
            </a:r>
            <a:endParaRPr lang="en-US" altLang="zh-TW" sz="900" b="1" kern="0" dirty="0">
              <a:solidFill>
                <a:srgbClr val="00B0F0"/>
              </a:solidFill>
              <a:latin typeface="+mj-lt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1587" lvl="1" indent="0" defTabSz="895350">
              <a:lnSpc>
                <a:spcPct val="150000"/>
              </a:lnSpc>
              <a:spcBef>
                <a:spcPts val="0"/>
              </a:spcBef>
              <a:buClr>
                <a:srgbClr val="002960"/>
              </a:buClr>
              <a:buSzPct val="125000"/>
              <a:buNone/>
              <a:tabLst>
                <a:tab pos="800100" algn="dec"/>
              </a:tabLst>
              <a:defRPr/>
            </a:pPr>
            <a:endParaRPr lang="en-US" altLang="zh-TW" sz="900" kern="0" dirty="0">
              <a:solidFill>
                <a:srgbClr val="292929"/>
              </a:solidFill>
              <a:latin typeface="+mj-lt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648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stron_standard_16x9_2024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3221d20-eaa3-4e55-b1bb-d3bfe400b3e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C7672327E7F04C8823F4F12A60080F" ma:contentTypeVersion="13" ma:contentTypeDescription="Create a new document." ma:contentTypeScope="" ma:versionID="4a85306de6caad608bd48f9733e64bbe">
  <xsd:schema xmlns:xsd="http://www.w3.org/2001/XMLSchema" xmlns:xs="http://www.w3.org/2001/XMLSchema" xmlns:p="http://schemas.microsoft.com/office/2006/metadata/properties" xmlns:ns3="e3221d20-eaa3-4e55-b1bb-d3bfe400b3e1" xmlns:ns4="f5cf55dd-5c4e-4d05-a181-d6f4423e082d" targetNamespace="http://schemas.microsoft.com/office/2006/metadata/properties" ma:root="true" ma:fieldsID="eb061ff54b36187f786a8eabf2ef57a9" ns3:_="" ns4:_="">
    <xsd:import namespace="e3221d20-eaa3-4e55-b1bb-d3bfe400b3e1"/>
    <xsd:import namespace="f5cf55dd-5c4e-4d05-a181-d6f4423e082d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221d20-eaa3-4e55-b1bb-d3bfe400b3e1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cf55dd-5c4e-4d05-a181-d6f4423e082d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BE940F-A28C-46AF-9B9A-9F64DFDA07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E4420F-7E8D-401A-A831-DC15CCB5A0FC}">
  <ds:schemaRefs>
    <ds:schemaRef ds:uri="http://purl.org/dc/elements/1.1/"/>
    <ds:schemaRef ds:uri="http://www.w3.org/XML/1998/namespace"/>
    <ds:schemaRef ds:uri="e3221d20-eaa3-4e55-b1bb-d3bfe400b3e1"/>
    <ds:schemaRef ds:uri="http://purl.org/dc/terms/"/>
    <ds:schemaRef ds:uri="f5cf55dd-5c4e-4d05-a181-d6f4423e082d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1A8E87C-F154-412D-8439-5684D356C5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221d20-eaa3-4e55-b1bb-d3bfe400b3e1"/>
    <ds:schemaRef ds:uri="f5cf55dd-5c4e-4d05-a181-d6f4423e08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47426</TotalTime>
  <Words>232</Words>
  <Application>Microsoft Office PowerPoint</Application>
  <PresentationFormat>On-screen Show (16:9)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微軟正黑體</vt:lpstr>
      <vt:lpstr>Aptos</vt:lpstr>
      <vt:lpstr>Arial</vt:lpstr>
      <vt:lpstr>Wingdings</vt:lpstr>
      <vt:lpstr>Wistron_standard_16x9_2024</vt:lpstr>
      <vt:lpstr>EDT200 TE Weekly Report _WK40 (Brian)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Honda Yao/WHQ/Wistron</dc:creator>
  <cp:lastModifiedBy>ALBAN BRIAN GABRIEL ADEVA/WIH/Wistron</cp:lastModifiedBy>
  <cp:revision>269</cp:revision>
  <dcterms:created xsi:type="dcterms:W3CDTF">2024-06-12T08:50:18Z</dcterms:created>
  <dcterms:modified xsi:type="dcterms:W3CDTF">2026-10-02T00:32:49Z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0x01010000C7672327E7F04C8823F4F12A60080F</vt:lpwstr>
  </property>
</Properties>
</file>