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8"/>
  </p:notesMasterIdLst>
  <p:handoutMasterIdLst>
    <p:handoutMasterId r:id="rId9"/>
  </p:handoutMasterIdLst>
  <p:sldIdLst>
    <p:sldId id="1203" r:id="rId5"/>
    <p:sldId id="2147376609" r:id="rId6"/>
    <p:sldId id="285" r:id="rId7"/>
  </p:sldIdLst>
  <p:sldSz cx="9144000" cy="5143500" type="screen16x9"/>
  <p:notesSz cx="7099300" cy="10234613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B71B6"/>
    <a:srgbClr val="E7F3F4"/>
    <a:srgbClr val="8ECD52"/>
    <a:srgbClr val="5799A7"/>
    <a:srgbClr val="E0E0F5"/>
    <a:srgbClr val="A1BFD5"/>
    <a:srgbClr val="EEEEB0"/>
    <a:srgbClr val="A0CCE0"/>
    <a:srgbClr val="B4D7E6"/>
    <a:srgbClr val="8BC1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中等深淺樣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45" autoAdjust="0"/>
    <p:restoredTop sz="95903" autoAdjust="0"/>
  </p:normalViewPr>
  <p:slideViewPr>
    <p:cSldViewPr>
      <p:cViewPr varScale="1">
        <p:scale>
          <a:sx n="84" d="100"/>
          <a:sy n="84" d="100"/>
        </p:scale>
        <p:origin x="848" y="3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6" d="100"/>
          <a:sy n="86" d="100"/>
        </p:scale>
        <p:origin x="4504" y="232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fld id="{AF85DFC1-A479-4D08-9122-DC0D7286DBC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7529680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68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39700" y="768350"/>
            <a:ext cx="68199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403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noProof="0"/>
              <a:t>Click to edit Master text styles</a:t>
            </a:r>
          </a:p>
          <a:p>
            <a:pPr lvl="1"/>
            <a:r>
              <a:rPr lang="en-US" altLang="zh-TW" noProof="0"/>
              <a:t>Second level</a:t>
            </a:r>
          </a:p>
          <a:p>
            <a:pPr lvl="2"/>
            <a:r>
              <a:rPr lang="en-US" altLang="zh-TW" noProof="0"/>
              <a:t>Third level</a:t>
            </a:r>
          </a:p>
          <a:p>
            <a:pPr lvl="3"/>
            <a:r>
              <a:rPr lang="en-US" altLang="zh-TW" noProof="0"/>
              <a:t>Fourth level</a:t>
            </a:r>
          </a:p>
          <a:p>
            <a:pPr lvl="4"/>
            <a:r>
              <a:rPr lang="en-US" altLang="zh-TW" noProof="0"/>
              <a:t>Fifth level</a:t>
            </a:r>
          </a:p>
        </p:txBody>
      </p:sp>
      <p:sp>
        <p:nvSpPr>
          <p:cNvPr id="4403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403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fld id="{C064BA9D-2804-4B04-94BC-96EB6646983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8541912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7167" y="-18000"/>
            <a:ext cx="9178333" cy="5167801"/>
          </a:xfrm>
          <a:prstGeom prst="rect">
            <a:avLst/>
          </a:prstGeom>
        </p:spPr>
      </p:pic>
      <p:sp>
        <p:nvSpPr>
          <p:cNvPr id="5" name="Rectangle 3">
            <a:extLst>
              <a:ext uri="{FF2B5EF4-FFF2-40B4-BE49-F238E27FC236}">
                <a16:creationId xmlns:a16="http://schemas.microsoft.com/office/drawing/2014/main" id="{15366A66-D756-4C3E-9C11-C0811D1358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03549" y="1733550"/>
            <a:ext cx="7560966" cy="988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1572" tIns="50786" rIns="101572" bIns="50786" anchor="ctr"/>
          <a:lstStyle>
            <a:lvl1pPr algn="ctr"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1pPr>
            <a:lvl2pPr algn="ctr"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2pPr>
            <a:lvl3pPr algn="ctr"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3pPr>
            <a:lvl4pPr algn="ctr"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4pPr>
            <a:lvl5pPr algn="ctr"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9pPr>
          </a:lstStyle>
          <a:p>
            <a:pPr algn="l">
              <a:lnSpc>
                <a:spcPct val="115000"/>
              </a:lnSpc>
            </a:pPr>
            <a:endParaRPr lang="en-US" altLang="en-US" sz="5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文鼎粗黑" pitchFamily="49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162805"/>
      </p:ext>
    </p:extLst>
  </p:cSld>
  <p:clrMapOvr>
    <a:masterClrMapping/>
  </p:clrMapOvr>
  <p:transition spd="slow">
    <p:zoom dir="in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85800" y="1200151"/>
            <a:ext cx="8229600" cy="3394472"/>
          </a:xfrm>
        </p:spPr>
        <p:txBody>
          <a:bodyPr/>
          <a:lstStyle>
            <a:lvl1pPr>
              <a:defRPr sz="28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>
              <a:defRPr sz="2400"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>
              <a:defRPr sz="1800"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>
              <a:defRPr sz="1400"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>
              <a:defRPr sz="1200"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標題 4"/>
          <p:cNvSpPr>
            <a:spLocks noGrp="1"/>
          </p:cNvSpPr>
          <p:nvPr>
            <p:ph type="title"/>
          </p:nvPr>
        </p:nvSpPr>
        <p:spPr>
          <a:xfrm>
            <a:off x="685800" y="233161"/>
            <a:ext cx="8229600" cy="584775"/>
          </a:xfr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>
          <a:xfrm>
            <a:off x="8763000" y="4857750"/>
            <a:ext cx="533400" cy="285750"/>
          </a:xfrm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7A6790E0-BEF4-4832-A75A-9EE1100ED3A6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294283135"/>
      </p:ext>
    </p:extLst>
  </p:cSld>
  <p:clrMapOvr>
    <a:masterClrMapping/>
  </p:clrMapOvr>
  <p:transition spd="slow">
    <p:zoom dir="in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W title slide 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70490" y="425669"/>
            <a:ext cx="7200000" cy="1960264"/>
          </a:xfrm>
        </p:spPr>
        <p:txBody>
          <a:bodyPr lIns="0" tIns="0" rIns="0" bIns="0" anchor="b">
            <a:normAutofit/>
          </a:bodyPr>
          <a:lstStyle>
            <a:lvl1pPr algn="l" rtl="0">
              <a:lnSpc>
                <a:spcPct val="100000"/>
              </a:lnSpc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zh-TW" altLang="en-US" dirty="0"/>
              <a:t>按一下以編輯母片標題樣式</a:t>
            </a:r>
            <a:br>
              <a:rPr lang="en-US" altLang="zh-TW" dirty="0"/>
            </a:br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9F332F9-A603-A418-4F1D-BE8820B8507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22033" y="2688144"/>
            <a:ext cx="4276133" cy="103270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ts val="14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TW" dirty="0"/>
              <a:t>Presenter’s Name </a:t>
            </a:r>
          </a:p>
          <a:p>
            <a:pPr lvl="0"/>
            <a:r>
              <a:rPr lang="en-US" altLang="zh-TW" dirty="0"/>
              <a:t>Presenter’s Dept.</a:t>
            </a:r>
          </a:p>
          <a:p>
            <a:pPr lvl="0"/>
            <a:r>
              <a:rPr lang="en-US" altLang="zh-TW" dirty="0" err="1"/>
              <a:t>yyyy</a:t>
            </a:r>
            <a:r>
              <a:rPr lang="en-US" altLang="zh-TW" dirty="0"/>
              <a:t>/mm/dd</a:t>
            </a:r>
          </a:p>
          <a:p>
            <a:pPr lvl="0"/>
            <a:endParaRPr lang="en-US" altLang="zh-TW" dirty="0"/>
          </a:p>
        </p:txBody>
      </p:sp>
      <p:pic>
        <p:nvPicPr>
          <p:cNvPr id="5" name="圖片 4" descr="一張含有 字型, 圖形, 文字, 平面設計 的圖片&#10;&#10;自動產生的描述">
            <a:extLst>
              <a:ext uri="{FF2B5EF4-FFF2-40B4-BE49-F238E27FC236}">
                <a16:creationId xmlns:a16="http://schemas.microsoft.com/office/drawing/2014/main" id="{BE5A06D7-9E47-DB88-5FA9-23A9929D28B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980" y="4480145"/>
            <a:ext cx="1778329" cy="769469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4E380CBB-C9E3-E3C2-EFDE-60E68C44D538}"/>
              </a:ext>
            </a:extLst>
          </p:cNvPr>
          <p:cNvSpPr/>
          <p:nvPr userDrawn="1"/>
        </p:nvSpPr>
        <p:spPr>
          <a:xfrm>
            <a:off x="404218" y="2724969"/>
            <a:ext cx="36000" cy="482575"/>
          </a:xfrm>
          <a:prstGeom prst="rect">
            <a:avLst/>
          </a:prstGeom>
          <a:solidFill>
            <a:srgbClr val="A3CC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961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lose_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4761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3" name="圖片 2" descr="一張含有 字型, 圖形, 文字, 平面設計 的圖片&#10;&#10;自動產生的描述">
            <a:extLst>
              <a:ext uri="{FF2B5EF4-FFF2-40B4-BE49-F238E27FC236}">
                <a16:creationId xmlns:a16="http://schemas.microsoft.com/office/drawing/2014/main" id="{A29B1802-2694-3DED-D132-3B6EF74343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346" y="4475747"/>
            <a:ext cx="1743460" cy="754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27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istron_T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285" y="827773"/>
            <a:ext cx="8639999" cy="4023432"/>
          </a:xfrm>
          <a:prstGeom prst="rect">
            <a:avLst/>
          </a:prstGeo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/>
            </a:lvl1pPr>
            <a:lvl5pPr marL="1371600" indent="0">
              <a:buNone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4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285" y="191586"/>
            <a:ext cx="8640000" cy="486993"/>
          </a:xfrm>
        </p:spPr>
        <p:txBody>
          <a:bodyPr>
            <a:normAutofit/>
          </a:bodyPr>
          <a:lstStyle>
            <a:lvl1pPr>
              <a:defRPr sz="3000" b="1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-232826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F9348E-7206-859C-74F0-F78517907597}"/>
              </a:ext>
            </a:extLst>
          </p:cNvPr>
          <p:cNvSpPr/>
          <p:nvPr userDrawn="1"/>
        </p:nvSpPr>
        <p:spPr>
          <a:xfrm>
            <a:off x="0" y="0"/>
            <a:ext cx="57600" cy="576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8661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33161"/>
            <a:ext cx="78486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zh-TW" dirty="0"/>
              <a:t>Click to edit Master title style 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124941"/>
            <a:ext cx="7848600" cy="33944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</a:p>
        </p:txBody>
      </p:sp>
      <p:sp>
        <p:nvSpPr>
          <p:cNvPr id="29717" name="Rectangle 21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86800" y="4869180"/>
            <a:ext cx="685800" cy="2171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kumimoji="1" sz="12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fld id="{3AB1FE89-9AA8-4D5B-B63B-2A1E06624653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  <p:pic>
        <p:nvPicPr>
          <p:cNvPr id="3" name="圖片 2" descr="一張含有 文字, 名片, 信封 的圖片&#10;&#10;自動產生的描述">
            <a:extLst>
              <a:ext uri="{FF2B5EF4-FFF2-40B4-BE49-F238E27FC236}">
                <a16:creationId xmlns:a16="http://schemas.microsoft.com/office/drawing/2014/main" id="{7EDA0686-D766-8B0F-77B2-57E271CE150A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692" y="361951"/>
            <a:ext cx="317215" cy="33483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B0AD7FC-C96C-1131-6E73-A54EDCF8E67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2600" y="4642498"/>
            <a:ext cx="9169200" cy="51825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95" r:id="rId1"/>
    <p:sldLayoutId id="2147483896" r:id="rId2"/>
    <p:sldLayoutId id="2147483899" r:id="rId3"/>
    <p:sldLayoutId id="2147483901" r:id="rId4"/>
    <p:sldLayoutId id="2147483902" r:id="rId5"/>
  </p:sldLayoutIdLst>
  <p:transition spd="slow">
    <p:zoom dir="in"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333333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333333"/>
          </a:solidFill>
          <a:latin typeface="Arial" charset="0"/>
          <a:ea typeface="新細明體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333333"/>
          </a:solidFill>
          <a:latin typeface="Arial" charset="0"/>
          <a:ea typeface="新細明體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333333"/>
          </a:solidFill>
          <a:latin typeface="Arial" charset="0"/>
          <a:ea typeface="新細明體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333333"/>
          </a:solidFill>
          <a:latin typeface="Arial" charset="0"/>
          <a:ea typeface="新細明體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rgbClr val="333333"/>
          </a:solidFill>
          <a:latin typeface="Arial" charset="0"/>
          <a:ea typeface="新細明體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rgbClr val="333333"/>
          </a:solidFill>
          <a:latin typeface="Arial" charset="0"/>
          <a:ea typeface="新細明體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rgbClr val="333333"/>
          </a:solidFill>
          <a:latin typeface="Arial" charset="0"/>
          <a:ea typeface="新細明體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rgbClr val="333333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rgbClr val="4D4D4D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rgbClr val="4D4D4D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rgbClr val="4D4D4D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rgbClr val="4D4D4D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rgbClr val="4D4D4D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rgbClr val="4D4D4D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rgbClr val="4D4D4D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rgbClr val="4D4D4D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8.png"/><Relationship Id="rId18" Type="http://schemas.openxmlformats.org/officeDocument/2006/relationships/image" Target="../media/image22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17" Type="http://schemas.microsoft.com/office/2007/relationships/hdphoto" Target="../media/hdphoto2.wdp"/><Relationship Id="rId2" Type="http://schemas.openxmlformats.org/officeDocument/2006/relationships/image" Target="../media/image8.jpe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19" Type="http://schemas.openxmlformats.org/officeDocument/2006/relationships/image" Target="../media/image23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42416400-2D2B-4745-DD04-2DFDAC8685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44669"/>
            <a:ext cx="8316310" cy="2527081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Yearly Achievement Report 2026</a:t>
            </a:r>
            <a:endParaRPr lang="en-US" sz="4000" b="1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B0BD2AF-17F7-F972-4342-2B9313048B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2033" y="2672102"/>
            <a:ext cx="4276133" cy="1032709"/>
          </a:xfrm>
        </p:spPr>
        <p:txBody>
          <a:bodyPr/>
          <a:lstStyle/>
          <a:p>
            <a:r>
              <a:rPr lang="en-US" altLang="zh-TW" dirty="0"/>
              <a:t>Presenter’s Name : Brian Gabriel Alban</a:t>
            </a:r>
          </a:p>
          <a:p>
            <a:r>
              <a:rPr lang="en-US" altLang="zh-TW" dirty="0"/>
              <a:t>Presenter’s Dept.: EDT220</a:t>
            </a:r>
          </a:p>
          <a:p>
            <a:r>
              <a:rPr lang="en-US" altLang="zh-TW" dirty="0"/>
              <a:t>2026/10/28</a:t>
            </a:r>
          </a:p>
        </p:txBody>
      </p:sp>
    </p:spTree>
    <p:extLst>
      <p:ext uri="{BB962C8B-B14F-4D97-AF65-F5344CB8AC3E}">
        <p14:creationId xmlns:p14="http://schemas.microsoft.com/office/powerpoint/2010/main" val="1732538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D9F6F9E1-D965-3D38-4DF2-5E0BF7EE7C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703"/>
          <a:stretch/>
        </p:blipFill>
        <p:spPr bwMode="auto">
          <a:xfrm>
            <a:off x="16095" y="27377"/>
            <a:ext cx="9139238" cy="4130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E93308-20C2-745A-4C6D-FDDEE012A50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697" y="652855"/>
            <a:ext cx="7836207" cy="422561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AC60E-04A3-F449-E916-C5494AAA9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49653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  <a:t>2</a:t>
            </a:fld>
            <a:endParaRPr lang="zh-TW" altLang="en-US"/>
          </a:p>
        </p:txBody>
      </p:sp>
      <p:sp>
        <p:nvSpPr>
          <p:cNvPr id="7" name="標題 2">
            <a:extLst>
              <a:ext uri="{FF2B5EF4-FFF2-40B4-BE49-F238E27FC236}">
                <a16:creationId xmlns:a16="http://schemas.microsoft.com/office/drawing/2014/main" id="{460A8BBB-8F10-F713-BC04-AE46B94D9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47" y="103557"/>
            <a:ext cx="8004153" cy="486993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Yearly Achievement Report 2026</a:t>
            </a:r>
            <a:endParaRPr lang="zh-TW" alt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C6F796-741D-515F-C332-686BC87934B6}"/>
              </a:ext>
            </a:extLst>
          </p:cNvPr>
          <p:cNvSpPr txBox="1"/>
          <p:nvPr/>
        </p:nvSpPr>
        <p:spPr>
          <a:xfrm>
            <a:off x="3304502" y="1223922"/>
            <a:ext cx="1854995" cy="909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Fusion eye Batch Stop &amp; Start Test Standard Procedure</a:t>
            </a:r>
          </a:p>
          <a:p>
            <a:pPr>
              <a:lnSpc>
                <a:spcPct val="25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Fusion eye Rack Auto-Lock Assignment Standard Procedure</a:t>
            </a:r>
          </a:p>
          <a:p>
            <a:pPr>
              <a:lnSpc>
                <a:spcPct val="25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GB300_PG548 Rack set-up Standard Procedure</a:t>
            </a:r>
          </a:p>
          <a:p>
            <a:pPr>
              <a:lnSpc>
                <a:spcPct val="25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GB300_PG548 Validation Flow Standard Procedure</a:t>
            </a:r>
          </a:p>
          <a:p>
            <a:pPr>
              <a:lnSpc>
                <a:spcPct val="25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GB300PG548 Tray Manual Setup Standard Procedure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B22C33-13F0-4C4C-E1F8-C05C640DBE82}"/>
              </a:ext>
            </a:extLst>
          </p:cNvPr>
          <p:cNvSpPr txBox="1"/>
          <p:nvPr/>
        </p:nvSpPr>
        <p:spPr>
          <a:xfrm>
            <a:off x="968497" y="1216672"/>
            <a:ext cx="2438400" cy="165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Brother Printer Label Printing SOW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Fusion eye Batch Stop &amp; Start Test SOW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Fusion eye Rack Auto-Lock Assignment SOW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N2 Serial Number Manual Checkout SOW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N2 UT3.2 Quark Tray Validation SOW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 INIT Failed [Error no none] Unable to connect port  Troubleshooting 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 N2 EC_633 cpld-version-not-match Troubleshooting SOW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 N2 EC_766 Check DUT IP and Troubleshooting SOW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 N2 EXITCODE[127] Troubleshooting SOW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 N2 EXITCODE[255] Troubleshooting SOW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 N2 INIT_PKG_FAIL_05 Troubleshooting SOW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 N2 WIST_ERR_6 Check DUT FRU SN is mismatch Troubleshooting 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518C46C-4480-132E-206D-A1E027208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44" y="860621"/>
            <a:ext cx="716183" cy="2269955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200A08C-DD26-8254-F70F-40C64115A1ED}"/>
              </a:ext>
            </a:extLst>
          </p:cNvPr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510128" y="1346200"/>
            <a:ext cx="203598" cy="8255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4A4FC562-9A87-17E1-5FAB-7C107D05735A}"/>
              </a:ext>
            </a:extLst>
          </p:cNvPr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510128" y="1625995"/>
            <a:ext cx="203598" cy="825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33ECBAB8-D9B1-8269-E641-601906355C0A}"/>
              </a:ext>
            </a:extLst>
          </p:cNvPr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478938" y="1931718"/>
            <a:ext cx="203598" cy="825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732FDC0-DEB7-E081-7CA8-DFA3BEA57E24}"/>
              </a:ext>
            </a:extLst>
          </p:cNvPr>
          <p:cNvSpPr txBox="1"/>
          <p:nvPr/>
        </p:nvSpPr>
        <p:spPr>
          <a:xfrm>
            <a:off x="1057090" y="3396601"/>
            <a:ext cx="185499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Script Optimization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B66911-A274-2906-120F-CEF003CD9371}"/>
              </a:ext>
            </a:extLst>
          </p:cNvPr>
          <p:cNvSpPr txBox="1"/>
          <p:nvPr/>
        </p:nvSpPr>
        <p:spPr>
          <a:xfrm>
            <a:off x="1057090" y="4182920"/>
            <a:ext cx="306203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POD 4 New Build PG548 Rack for Automation - 54 Racks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AC53FD-F526-111F-8F2C-532284E94263}"/>
              </a:ext>
            </a:extLst>
          </p:cNvPr>
          <p:cNvSpPr txBox="1"/>
          <p:nvPr/>
        </p:nvSpPr>
        <p:spPr>
          <a:xfrm>
            <a:off x="5007097" y="3428854"/>
            <a:ext cx="22098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New TE DL Training Evaluation Report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CDC826-7413-0E29-8610-1FE4AFBCDF28}"/>
              </a:ext>
            </a:extLst>
          </p:cNvPr>
          <p:cNvSpPr txBox="1"/>
          <p:nvPr/>
        </p:nvSpPr>
        <p:spPr>
          <a:xfrm>
            <a:off x="4996212" y="4118598"/>
            <a:ext cx="27066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New Spartan Training Candidates (3 Participants)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05AABD-0864-DFD8-733E-A19AB974AD31}"/>
              </a:ext>
            </a:extLst>
          </p:cNvPr>
          <p:cNvSpPr txBox="1"/>
          <p:nvPr/>
        </p:nvSpPr>
        <p:spPr>
          <a:xfrm>
            <a:off x="5159497" y="3595086"/>
            <a:ext cx="2032398" cy="4243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Tracked progress, recorded scores, and managed weekly</a:t>
            </a:r>
          </a:p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Delivered assessments, practical exams, and feedback</a:t>
            </a:r>
          </a:p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Evaluated and passed 2 participants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F9A467-D6E6-9DED-25B1-6B6BD1E93DE0}"/>
              </a:ext>
            </a:extLst>
          </p:cNvPr>
          <p:cNvSpPr txBox="1"/>
          <p:nvPr/>
        </p:nvSpPr>
        <p:spPr>
          <a:xfrm>
            <a:off x="5181600" y="4336796"/>
            <a:ext cx="301507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Prepare Two Training Topics Related to the TE-Spartan/TE-DL Work Process</a:t>
            </a:r>
          </a:p>
          <a:p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Schedule and Conduct Hands-On Training for the Candidates</a:t>
            </a:r>
          </a:p>
          <a:p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Prepare Written and Practical Examinations to Assess Their Knowledge and Skills</a:t>
            </a:r>
          </a:p>
          <a:p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Evaluate and Grade the Candidates Based on Their Examination Results and Overall Performance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C4EC96-28E0-55EB-8769-ACA674A0792A}"/>
              </a:ext>
            </a:extLst>
          </p:cNvPr>
          <p:cNvSpPr txBox="1"/>
          <p:nvPr/>
        </p:nvSpPr>
        <p:spPr>
          <a:xfrm>
            <a:off x="7293097" y="3905086"/>
            <a:ext cx="1367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New DL Evaluation Result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13EE30D-1384-1EEB-B7B4-F4642E5F21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2150" y="3486150"/>
            <a:ext cx="801003" cy="453163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12D6B85-4748-8D70-C0D0-E41D9EB7D7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0" b="94118" l="636" r="98517">
                        <a14:foregroundMark x1="66949" y1="11765" x2="66949" y2="11765"/>
                        <a14:foregroundMark x1="69280" y1="12255" x2="69280" y2="12255"/>
                        <a14:foregroundMark x1="69280" y1="12255" x2="69280" y2="12255"/>
                        <a14:foregroundMark x1="69703" y1="12255" x2="69703" y2="12255"/>
                        <a14:foregroundMark x1="68008" y1="8333" x2="68008" y2="8333"/>
                        <a14:foregroundMark x1="72669" y1="11765" x2="72669" y2="11765"/>
                        <a14:foregroundMark x1="24364" y1="15196" x2="24364" y2="15196"/>
                        <a14:foregroundMark x1="18008" y1="91667" x2="18008" y2="91667"/>
                        <a14:foregroundMark x1="18008" y1="91667" x2="18008" y2="91667"/>
                        <a14:foregroundMark x1="11441" y1="89706" x2="11441" y2="89706"/>
                        <a14:foregroundMark x1="11441" y1="89706" x2="11441" y2="89706"/>
                        <a14:foregroundMark x1="96610" y1="85784" x2="96610" y2="85784"/>
                        <a14:foregroundMark x1="96610" y1="85784" x2="96610" y2="85784"/>
                        <a14:foregroundMark x1="98517" y1="62255" x2="98517" y2="62255"/>
                        <a14:foregroundMark x1="98517" y1="62255" x2="98517" y2="62255"/>
                        <a14:foregroundMark x1="98517" y1="62255" x2="98517" y2="62255"/>
                        <a14:foregroundMark x1="96610" y1="67647" x2="96610" y2="67647"/>
                        <a14:foregroundMark x1="96610" y1="67647" x2="96610" y2="67647"/>
                        <a14:foregroundMark x1="96610" y1="67647" x2="96610" y2="67647"/>
                        <a14:foregroundMark x1="96610" y1="67647" x2="92162" y2="65932"/>
                        <a14:foregroundMark x1="3602" y1="50490" x2="3602" y2="50490"/>
                        <a14:foregroundMark x1="3602" y1="50490" x2="3602" y2="50490"/>
                        <a14:foregroundMark x1="3814" y1="50980" x2="3602" y2="54902"/>
                        <a14:foregroundMark x1="1059" y1="40196" x2="1907" y2="79902"/>
                        <a14:foregroundMark x1="4025" y1="20098" x2="2542" y2="52451"/>
                        <a14:foregroundMark x1="49263" y1="27567" x2="51359" y2="28383"/>
                        <a14:foregroundMark x1="42591" y1="24970" x2="45705" y2="26182"/>
                        <a14:foregroundMark x1="35982" y1="22398" x2="37576" y2="23018"/>
                        <a14:foregroundMark x1="15469" y1="14414" x2="27562" y2="19120"/>
                        <a14:foregroundMark x1="58828" y1="17811" x2="59958" y2="16176"/>
                        <a14:foregroundMark x1="5939" y1="890" x2="5417" y2="744"/>
                        <a14:foregroundMark x1="21205" y1="5152" x2="20114" y2="4847"/>
                        <a14:foregroundMark x1="31291" y1="7968" x2="30205" y2="7665"/>
                        <a14:foregroundMark x1="51907" y1="13725" x2="37741" y2="9770"/>
                        <a14:foregroundMark x1="82315" y1="9743" x2="96186" y2="15686"/>
                        <a14:foregroundMark x1="73305" y1="5882" x2="78715" y2="8200"/>
                        <a14:foregroundMark x1="96186" y1="15686" x2="94280" y2="17647"/>
                        <a14:foregroundMark x1="97246" y1="20098" x2="97881" y2="67157"/>
                        <a14:foregroundMark x1="95975" y1="78431" x2="84534" y2="94118"/>
                        <a14:foregroundMark x1="74364" y1="93137" x2="77966" y2="93627"/>
                        <a14:foregroundMark x1="56356" y1="91667" x2="66949" y2="93627"/>
                        <a14:foregroundMark x1="41314" y1="88235" x2="48941" y2="88235"/>
                        <a14:foregroundMark x1="26695" y1="92157" x2="34746" y2="88725"/>
                        <a14:foregroundMark x1="16578" y1="46078" x2="15678" y2="37745"/>
                        <a14:foregroundMark x1="16842" y1="48517" x2="16578" y2="46078"/>
                        <a14:foregroundMark x1="32428" y1="44608" x2="32627" y2="44118"/>
                        <a14:foregroundMark x1="31830" y1="46078" x2="32428" y2="44608"/>
                        <a14:foregroundMark x1="29436" y1="51961" x2="31830" y2="46078"/>
                        <a14:foregroundMark x1="29237" y1="52451" x2="29436" y2="51961"/>
                        <a14:foregroundMark x1="45975" y1="56863" x2="45339" y2="49020"/>
                        <a14:foregroundMark x1="57415" y1="54412" x2="56992" y2="51961"/>
                        <a14:foregroundMark x1="57415" y1="62255" x2="57203" y2="54412"/>
                        <a14:foregroundMark x1="63983" y1="56863" x2="64831" y2="44118"/>
                        <a14:foregroundMark x1="74364" y1="50490" x2="73093" y2="34314"/>
                        <a14:foregroundMark x1="79661" y1="63235" x2="80387" y2="57185"/>
                        <a14:foregroundMark x1="26907" y1="63725" x2="28390" y2="57843"/>
                        <a14:foregroundMark x1="31356" y1="60784" x2="29025" y2="58824"/>
                        <a14:foregroundMark x1="47246" y1="65196" x2="47458" y2="59314"/>
                        <a14:foregroundMark x1="41525" y1="39706" x2="44492" y2="37255"/>
                        <a14:foregroundMark x1="73729" y1="63235" x2="73729" y2="63235"/>
                        <a14:foregroundMark x1="47458" y1="39216" x2="47458" y2="39216"/>
                        <a14:foregroundMark x1="45339" y1="36275" x2="45339" y2="36275"/>
                        <a14:foregroundMark x1="16737" y1="65196" x2="16314" y2="52451"/>
                        <a14:foregroundMark x1="19703" y1="54412" x2="19915" y2="52451"/>
                        <a14:foregroundMark x1="8051" y1="12255" x2="11017" y2="13235"/>
                        <a14:foregroundMark x1="15254" y1="8824" x2="16949" y2="12255"/>
                        <a14:foregroundMark x1="82839" y1="49510" x2="82415" y2="45098"/>
                        <a14:foregroundMark x1="74576" y1="62255" x2="74788" y2="62745"/>
                        <a14:backgroundMark x1="88771" y1="36275" x2="88771" y2="36275"/>
                        <a14:backgroundMark x1="89407" y1="70098" x2="87500" y2="61275"/>
                        <a14:backgroundMark x1="83263" y1="81373" x2="92585" y2="63725"/>
                        <a14:backgroundMark x1="52754" y1="72549" x2="63771" y2="76961"/>
                        <a14:backgroundMark x1="65254" y1="24020" x2="71186" y2="25980"/>
                        <a14:backgroundMark x1="37712" y1="22549" x2="43008" y2="23529"/>
                        <a14:backgroundMark x1="25000" y1="28431" x2="34322" y2="28431"/>
                        <a14:backgroundMark x1="51483" y1="27941" x2="57627" y2="28431"/>
                        <a14:backgroundMark x1="47029" y1="26143" x2="49576" y2="26471"/>
                        <a14:backgroundMark x1="45763" y1="25980" x2="47002" y2="26140"/>
                        <a14:backgroundMark x1="80297" y1="2451" x2="84322" y2="2451"/>
                        <a14:backgroundMark x1="1271" y1="4412" x2="4873" y2="2941"/>
                        <a14:backgroundMark x1="32203" y1="4412" x2="39619" y2="2451"/>
                        <a14:backgroundMark x1="21398" y1="4412" x2="31568" y2="2451"/>
                        <a14:backgroundMark x1="20242" y1="2483" x2="20763" y2="2451"/>
                        <a14:backgroundMark x1="13775" y1="2876" x2="18415" y2="2594"/>
                        <a14:backgroundMark x1="13079" y1="6416" x2="15849" y2="7652"/>
                        <a14:backgroundMark x1="5297" y1="2941" x2="10205" y2="5133"/>
                        <a14:backgroundMark x1="2754" y1="97549" x2="3602" y2="99510"/>
                        <a14:backgroundMark x1="212" y1="37255" x2="212" y2="30882"/>
                        <a14:backgroundMark x1="78178" y1="53431" x2="78178" y2="53431"/>
                        <a14:backgroundMark x1="80297" y1="50490" x2="78390" y2="46569"/>
                        <a14:backgroundMark x1="31356" y1="51961" x2="31356" y2="51961"/>
                        <a14:backgroundMark x1="31780" y1="46078" x2="31780" y2="46078"/>
                        <a14:backgroundMark x1="32203" y1="43137" x2="32203" y2="43137"/>
                        <a14:backgroundMark x1="31992" y1="44608" x2="31992" y2="44608"/>
                        <a14:backgroundMark x1="19915" y1="46078" x2="19915" y2="46078"/>
                        <a14:backgroundMark x1="18432" y1="58824" x2="18432" y2="58824"/>
                        <a14:backgroundMark x1="18856" y1="58824" x2="18856" y2="58824"/>
                        <a14:backgroundMark x1="18856" y1="58824" x2="18856" y2="58824"/>
                        <a14:backgroundMark x1="18432" y1="56373" x2="18432" y2="56373"/>
                        <a14:backgroundMark x1="18432" y1="56373" x2="18432" y2="56373"/>
                        <a14:backgroundMark x1="19280" y1="56863" x2="19280" y2="56863"/>
                        <a14:backgroundMark x1="19280" y1="56863" x2="19280" y2="56863"/>
                        <a14:backgroundMark x1="18008" y1="62255" x2="18008" y2="62255"/>
                        <a14:backgroundMark x1="18008" y1="62255" x2="18008" y2="62255"/>
                        <a14:backgroundMark x1="19915" y1="57843" x2="19915" y2="57843"/>
                        <a14:backgroundMark x1="19915" y1="57353" x2="19915" y2="57353"/>
                        <a14:backgroundMark x1="17585" y1="61765" x2="17585" y2="61765"/>
                        <a14:backgroundMark x1="17585" y1="61765" x2="17585" y2="61765"/>
                        <a14:backgroundMark x1="17797" y1="60294" x2="17797" y2="60294"/>
                        <a14:backgroundMark x1="19068" y1="61765" x2="19068" y2="61765"/>
                        <a14:backgroundMark x1="19703" y1="59314" x2="19703" y2="59314"/>
                        <a14:backgroundMark x1="19280" y1="56863" x2="19280" y2="56863"/>
                        <a14:backgroundMark x1="18856" y1="64216" x2="20975" y2="60784"/>
                        <a14:backgroundMark x1="18828" y1="59738" x2="17797" y2="57353"/>
                        <a14:backgroundMark x1="19492" y1="61275" x2="18888" y2="59878"/>
                        <a14:backgroundMark x1="19132" y1="58245" x2="20127" y2="63235"/>
                        <a14:backgroundMark x1="18856" y1="56863" x2="19085" y2="580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0141654">
            <a:off x="7590304" y="3648713"/>
            <a:ext cx="456921" cy="197482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75571A46-EA8D-4609-1C09-0E506E8DD9F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V="1">
            <a:off x="6988297" y="4737179"/>
            <a:ext cx="946007" cy="121488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887B246-720A-65EC-7A08-F5833B542C6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7247" y="4373289"/>
            <a:ext cx="154808" cy="331083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44A51A8C-5A22-DCB6-4F3E-DE434C652C0A}"/>
              </a:ext>
            </a:extLst>
          </p:cNvPr>
          <p:cNvSpPr txBox="1"/>
          <p:nvPr/>
        </p:nvSpPr>
        <p:spPr>
          <a:xfrm>
            <a:off x="1197097" y="4290642"/>
            <a:ext cx="2032398" cy="4243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Network Checking</a:t>
            </a:r>
          </a:p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Cabling and Harnessing</a:t>
            </a:r>
          </a:p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Automation Test Assisting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349997-BE3E-1B23-902A-042CA1FA7F7A}"/>
              </a:ext>
            </a:extLst>
          </p:cNvPr>
          <p:cNvSpPr txBox="1"/>
          <p:nvPr/>
        </p:nvSpPr>
        <p:spPr>
          <a:xfrm>
            <a:off x="5578706" y="2521481"/>
            <a:ext cx="1028591" cy="539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Setup</a:t>
            </a:r>
          </a:p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Testing</a:t>
            </a:r>
          </a:p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FW Checking</a:t>
            </a:r>
          </a:p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Release to Production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9E5023-9A6A-3C38-BFA3-C71EDA4A8F78}"/>
              </a:ext>
            </a:extLst>
          </p:cNvPr>
          <p:cNvSpPr txBox="1"/>
          <p:nvPr/>
        </p:nvSpPr>
        <p:spPr>
          <a:xfrm>
            <a:off x="5204963" y="1276350"/>
            <a:ext cx="1733776" cy="468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PG548_26Q3_MP_Bianca_53517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PG548_26Q3_MP_Bianca_GB300_53457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PG548_26Q3_MP_Bianca_GB300_53412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37EE47F-0723-E1DB-23B5-A39AA12CFF0D}"/>
              </a:ext>
            </a:extLst>
          </p:cNvPr>
          <p:cNvSpPr txBox="1"/>
          <p:nvPr/>
        </p:nvSpPr>
        <p:spPr>
          <a:xfrm>
            <a:off x="5204963" y="1708545"/>
            <a:ext cx="1733776" cy="468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PG548_26Q2_MP_Bianca_GB300_53454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PG548_26Q1_MP_Bianca_51526</a:t>
            </a:r>
          </a:p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PG548_26Q1_MP_Bianca_GB300_51656_test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30D86EA-929D-1142-E9E2-D779134A35FF}"/>
              </a:ext>
            </a:extLst>
          </p:cNvPr>
          <p:cNvSpPr txBox="1"/>
          <p:nvPr/>
        </p:nvSpPr>
        <p:spPr>
          <a:xfrm>
            <a:off x="5204963" y="2139436"/>
            <a:ext cx="1733776" cy="204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PG548_26Q1_MP_Bianca_51652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3FB2867-ACB2-A25C-7AF2-0090505ACEEA}"/>
              </a:ext>
            </a:extLst>
          </p:cNvPr>
          <p:cNvGrpSpPr/>
          <p:nvPr/>
        </p:nvGrpSpPr>
        <p:grpSpPr>
          <a:xfrm>
            <a:off x="6536621" y="1015752"/>
            <a:ext cx="1814283" cy="1409964"/>
            <a:chOff x="6330124" y="1015752"/>
            <a:chExt cx="1814283" cy="1409964"/>
          </a:xfrm>
        </p:grpSpPr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C559D60-61BC-C26D-446C-0C1AAC57CF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330124" y="1015752"/>
              <a:ext cx="482625" cy="135897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E31F64A-AC9D-8C66-12DF-B7A561AA5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812129" y="1044267"/>
              <a:ext cx="1332278" cy="1381449"/>
            </a:xfrm>
            <a:prstGeom prst="rect">
              <a:avLst/>
            </a:prstGeom>
          </p:spPr>
        </p:pic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E5F6F052-F692-79ED-5273-C5FA52E49EA8}"/>
              </a:ext>
            </a:extLst>
          </p:cNvPr>
          <p:cNvSpPr txBox="1"/>
          <p:nvPr/>
        </p:nvSpPr>
        <p:spPr>
          <a:xfrm>
            <a:off x="7006941" y="1275383"/>
            <a:ext cx="185499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EC_814 PCIE Test Monitoring </a:t>
            </a: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D0D5656E-83A8-EF7A-290E-05B455411C0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94838" y="1445035"/>
            <a:ext cx="1168460" cy="558829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245E9189-09C3-40B1-30AB-8A60AC2C0FD9}"/>
              </a:ext>
            </a:extLst>
          </p:cNvPr>
          <p:cNvSpPr txBox="1"/>
          <p:nvPr/>
        </p:nvSpPr>
        <p:spPr>
          <a:xfrm>
            <a:off x="6514478" y="1273732"/>
            <a:ext cx="472593" cy="206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Completed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B00CCBE-5DAC-F426-8529-37B618B3D068}"/>
              </a:ext>
            </a:extLst>
          </p:cNvPr>
          <p:cNvSpPr txBox="1"/>
          <p:nvPr/>
        </p:nvSpPr>
        <p:spPr>
          <a:xfrm>
            <a:off x="6515704" y="1417785"/>
            <a:ext cx="472593" cy="206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Completed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2D8C777-1476-1135-299A-68D039732107}"/>
              </a:ext>
            </a:extLst>
          </p:cNvPr>
          <p:cNvSpPr txBox="1"/>
          <p:nvPr/>
        </p:nvSpPr>
        <p:spPr>
          <a:xfrm>
            <a:off x="6516751" y="1547598"/>
            <a:ext cx="472593" cy="206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Completed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B38CC13-9723-E84D-847A-5D762FD8FA76}"/>
              </a:ext>
            </a:extLst>
          </p:cNvPr>
          <p:cNvSpPr txBox="1"/>
          <p:nvPr/>
        </p:nvSpPr>
        <p:spPr>
          <a:xfrm>
            <a:off x="6518510" y="1692835"/>
            <a:ext cx="472593" cy="206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Completed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EF61636-F967-C8BA-E8B0-989D73024812}"/>
              </a:ext>
            </a:extLst>
          </p:cNvPr>
          <p:cNvSpPr txBox="1"/>
          <p:nvPr/>
        </p:nvSpPr>
        <p:spPr>
          <a:xfrm>
            <a:off x="6521224" y="1836712"/>
            <a:ext cx="472593" cy="206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Completed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AF410FE-8505-C750-2305-6C39541779BA}"/>
              </a:ext>
            </a:extLst>
          </p:cNvPr>
          <p:cNvSpPr txBox="1"/>
          <p:nvPr/>
        </p:nvSpPr>
        <p:spPr>
          <a:xfrm>
            <a:off x="6521224" y="1995599"/>
            <a:ext cx="472593" cy="206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Completed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4C80FAB-FC46-BE51-367C-94CE65F479CB}"/>
              </a:ext>
            </a:extLst>
          </p:cNvPr>
          <p:cNvSpPr txBox="1"/>
          <p:nvPr/>
        </p:nvSpPr>
        <p:spPr>
          <a:xfrm>
            <a:off x="6523443" y="2140459"/>
            <a:ext cx="472593" cy="206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43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Completed</a:t>
            </a:r>
          </a:p>
        </p:txBody>
      </p:sp>
      <p:pic>
        <p:nvPicPr>
          <p:cNvPr id="100" name="Picture 99">
            <a:extLst>
              <a:ext uri="{FF2B5EF4-FFF2-40B4-BE49-F238E27FC236}">
                <a16:creationId xmlns:a16="http://schemas.microsoft.com/office/drawing/2014/main" id="{E3C1295D-21EB-582B-08BC-15D113C7BA6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58292" y="3611828"/>
            <a:ext cx="2883207" cy="569253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31477189-4430-982B-C76D-F07CA398BDDE}"/>
              </a:ext>
            </a:extLst>
          </p:cNvPr>
          <p:cNvSpPr txBox="1"/>
          <p:nvPr/>
        </p:nvSpPr>
        <p:spPr>
          <a:xfrm>
            <a:off x="1120897" y="3685842"/>
            <a:ext cx="1409591" cy="530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RN_Repair.sh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water_flow_check.sh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get_sfcs_GETNVFRU2.sh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Auto_Flash_PCIe_FW_local_vm.sh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378322-E2F4-BC6B-2596-17FF5104F3C8}"/>
              </a:ext>
            </a:extLst>
          </p:cNvPr>
          <p:cNvSpPr txBox="1"/>
          <p:nvPr/>
        </p:nvSpPr>
        <p:spPr>
          <a:xfrm>
            <a:off x="1501897" y="3563429"/>
            <a:ext cx="558999" cy="1935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bg1"/>
                </a:solidFill>
                <a:latin typeface="+mj-lt"/>
              </a:rPr>
              <a:t>Script Name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875EE1B-4A5E-A15A-7C73-9F36DABCFD54}"/>
              </a:ext>
            </a:extLst>
          </p:cNvPr>
          <p:cNvSpPr txBox="1"/>
          <p:nvPr/>
        </p:nvSpPr>
        <p:spPr>
          <a:xfrm>
            <a:off x="2473950" y="3571533"/>
            <a:ext cx="613956" cy="1935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bg1"/>
                </a:solidFill>
                <a:latin typeface="+mj-lt"/>
              </a:rPr>
              <a:t>Original Time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D9A70A4-06E2-52C0-3218-F27E7BB4266A}"/>
              </a:ext>
            </a:extLst>
          </p:cNvPr>
          <p:cNvSpPr txBox="1"/>
          <p:nvPr/>
        </p:nvSpPr>
        <p:spPr>
          <a:xfrm>
            <a:off x="2956660" y="3563428"/>
            <a:ext cx="664162" cy="1935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bg1"/>
                </a:solidFill>
                <a:latin typeface="+mj-lt"/>
              </a:rPr>
              <a:t>Optimize Time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8693638-A2BF-9B4B-3CA3-D853D2807364}"/>
              </a:ext>
            </a:extLst>
          </p:cNvPr>
          <p:cNvSpPr txBox="1"/>
          <p:nvPr/>
        </p:nvSpPr>
        <p:spPr>
          <a:xfrm>
            <a:off x="3454964" y="3563428"/>
            <a:ext cx="664162" cy="1935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00" b="1" dirty="0">
                <a:solidFill>
                  <a:schemeClr val="bg1"/>
                </a:solidFill>
                <a:latin typeface="+mj-lt"/>
              </a:rPr>
              <a:t>Time Save (%)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E34ABBE-4078-3C73-2995-72A6B6A07B20}"/>
              </a:ext>
            </a:extLst>
          </p:cNvPr>
          <p:cNvSpPr txBox="1"/>
          <p:nvPr/>
        </p:nvSpPr>
        <p:spPr>
          <a:xfrm>
            <a:off x="2578284" y="3685842"/>
            <a:ext cx="473586" cy="530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180 Sec.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120 Sec.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180 Sec.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180 Sec.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56CDE39-84CC-2BFC-6D45-3AA15065B7C5}"/>
              </a:ext>
            </a:extLst>
          </p:cNvPr>
          <p:cNvSpPr txBox="1"/>
          <p:nvPr/>
        </p:nvSpPr>
        <p:spPr>
          <a:xfrm>
            <a:off x="3072879" y="3685842"/>
            <a:ext cx="473586" cy="530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15 Sec.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10 Sec.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10 Sec.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10Sec.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F5B50C2-0B8E-68B6-3885-EBBA414516C3}"/>
              </a:ext>
            </a:extLst>
          </p:cNvPr>
          <p:cNvSpPr txBox="1"/>
          <p:nvPr/>
        </p:nvSpPr>
        <p:spPr>
          <a:xfrm>
            <a:off x="3573408" y="3685842"/>
            <a:ext cx="473586" cy="530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91.67%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91.67%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91.67%</a:t>
            </a:r>
          </a:p>
          <a:p>
            <a:pPr>
              <a:lnSpc>
                <a:spcPct val="15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94.44%</a:t>
            </a:r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58F768E9-7C4A-A4AB-FD6B-FB2CF9F8A02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63897" y="4356630"/>
            <a:ext cx="533400" cy="4476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CA812C-1BC5-83FA-F66B-7F5341D6DF62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6667" b="92500" l="10000" r="90000">
                        <a14:foregroundMark x1="55333" y1="16667" x2="55333" y2="16667"/>
                        <a14:foregroundMark x1="56000" y1="6667" x2="56000" y2="6667"/>
                        <a14:foregroundMark x1="27000" y1="52333" x2="27000" y2="52333"/>
                        <a14:foregroundMark x1="27167" y1="47333" x2="27167" y2="47333"/>
                        <a14:foregroundMark x1="29500" y1="41833" x2="29500" y2="41833"/>
                        <a14:foregroundMark x1="33833" y1="36667" x2="33833" y2="36667"/>
                        <a14:foregroundMark x1="38667" y1="33667" x2="38667" y2="33667"/>
                        <a14:foregroundMark x1="45333" y1="31667" x2="45333" y2="31667"/>
                        <a14:foregroundMark x1="50667" y1="30000" x2="50667" y2="30000"/>
                        <a14:foregroundMark x1="57333" y1="30333" x2="57333" y2="30333"/>
                        <a14:foregroundMark x1="56833" y1="43333" x2="56833" y2="43333"/>
                        <a14:foregroundMark x1="66667" y1="74000" x2="66667" y2="74000"/>
                        <a14:foregroundMark x1="77500" y1="92500" x2="77500" y2="92500"/>
                      </a14:backgroundRemoval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4747" y="4221688"/>
            <a:ext cx="454115" cy="4116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235FF6-A166-2638-93C5-E4DBFD566E6D}"/>
              </a:ext>
            </a:extLst>
          </p:cNvPr>
          <p:cNvSpPr txBox="1"/>
          <p:nvPr/>
        </p:nvSpPr>
        <p:spPr>
          <a:xfrm>
            <a:off x="7874853" y="4619733"/>
            <a:ext cx="4611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3 Passed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9AC5639-637F-78D8-200B-BE191EF394F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16624" y="4148452"/>
            <a:ext cx="352790" cy="3609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5FE945-381C-C260-2942-1C463B45BA6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49402" y="4344576"/>
            <a:ext cx="352790" cy="36091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9469447-A698-307C-F6CE-CCE9E0D0BDB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80557" y="4120404"/>
            <a:ext cx="365808" cy="35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616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14224FF-98D1-A067-60B1-385FF161EDF3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sx="58000" sy="58000" algn="tl" rotWithShape="0">
              <a:prstClr val="black">
                <a:alpha val="59000"/>
              </a:prstClr>
            </a:outerShdw>
          </a:effectLst>
        </p:spPr>
        <p:txBody>
          <a:bodyPr/>
          <a:lstStyle/>
          <a:p>
            <a:r>
              <a:rPr lang="en-US" altLang="zh-TW" dirty="0"/>
              <a:t>Thank You!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23665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322476564D0044C9E979BAAE6D5B9F5" ma:contentTypeVersion="7" ma:contentTypeDescription="Create a new document." ma:contentTypeScope="" ma:versionID="b802173bc230f32df7e86177258b4ad2">
  <xsd:schema xmlns:xsd="http://www.w3.org/2001/XMLSchema" xmlns:xs="http://www.w3.org/2001/XMLSchema" xmlns:p="http://schemas.microsoft.com/office/2006/metadata/properties" xmlns:ns2="a849e401-53aa-46c7-8af2-60524ff5a26b" targetNamespace="http://schemas.microsoft.com/office/2006/metadata/properties" ma:root="true" ma:fieldsID="0fecd2f072fcafc5bc7110025b665fa5" ns2:_="">
    <xsd:import namespace="a849e401-53aa-46c7-8af2-60524ff5a2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49e401-53aa-46c7-8af2-60524ff5a2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72E048-6D95-4F4A-AAC2-23061DD5CB1A}">
  <ds:schemaRefs>
    <ds:schemaRef ds:uri="http://purl.org/dc/terms/"/>
    <ds:schemaRef ds:uri="http://www.w3.org/XML/1998/namespace"/>
    <ds:schemaRef ds:uri="a849e401-53aa-46c7-8af2-60524ff5a26b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CCCE4332-1872-48DE-A9C7-55051CD3021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374B7CF-A9DD-4470-A62A-37237BE0917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49e401-53aa-46c7-8af2-60524ff5a2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372040</TotalTime>
  <Words>413</Words>
  <Application>Microsoft Office PowerPoint</Application>
  <PresentationFormat>On-screen Show (16:9)</PresentationFormat>
  <Paragraphs>79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微軟正黑體</vt:lpstr>
      <vt:lpstr>Aptos</vt:lpstr>
      <vt:lpstr>Arial</vt:lpstr>
      <vt:lpstr>Default Design</vt:lpstr>
      <vt:lpstr>Yearly Achievement Report 2026</vt:lpstr>
      <vt:lpstr>Yearly Achievement Report 2026</vt:lpstr>
      <vt:lpstr>Thank You!</vt:lpstr>
    </vt:vector>
  </TitlesOfParts>
  <Company>pica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Perry</dc:creator>
  <cp:lastModifiedBy>ALBAN BRIAN GABRIEL ADEVA/WIH/Wistron</cp:lastModifiedBy>
  <cp:revision>1187</cp:revision>
  <dcterms:created xsi:type="dcterms:W3CDTF">2008-08-07T15:44:20Z</dcterms:created>
  <dcterms:modified xsi:type="dcterms:W3CDTF">2026-10-03T01:03:09Z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0x0101007322476564D0044C9E979BAAE6D5B9F5</vt:lpwstr>
  </property>
</Properties>
</file>