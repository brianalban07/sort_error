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8"/>
  </p:notesMasterIdLst>
  <p:handoutMasterIdLst>
    <p:handoutMasterId r:id="rId9"/>
  </p:handoutMasterIdLst>
  <p:sldIdLst>
    <p:sldId id="1203" r:id="rId5"/>
    <p:sldId id="2147376612" r:id="rId6"/>
    <p:sldId id="285" r:id="rId7"/>
  </p:sldIdLst>
  <p:sldSz cx="9144000" cy="5143500" type="screen16x9"/>
  <p:notesSz cx="7099300" cy="1023461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5BE37"/>
    <a:srgbClr val="132270"/>
    <a:srgbClr val="0C1A29"/>
    <a:srgbClr val="5B6E8A"/>
    <a:srgbClr val="0B71B6"/>
    <a:srgbClr val="E7F3F4"/>
    <a:srgbClr val="8ECD52"/>
    <a:srgbClr val="5799A7"/>
    <a:srgbClr val="E0E0F5"/>
    <a:srgbClr val="A1BF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45" autoAdjust="0"/>
    <p:restoredTop sz="95903" autoAdjust="0"/>
  </p:normalViewPr>
  <p:slideViewPr>
    <p:cSldViewPr>
      <p:cViewPr varScale="1">
        <p:scale>
          <a:sx n="84" d="100"/>
          <a:sy n="84" d="100"/>
        </p:scale>
        <p:origin x="848" y="4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4504" y="232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7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AF85DFC1-A479-4D08-9122-DC0D7286DBC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52968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3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C064BA9D-2804-4B04-94BC-96EB6646983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85419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7167" y="-18000"/>
            <a:ext cx="9178333" cy="5167801"/>
          </a:xfrm>
          <a:prstGeom prst="rect">
            <a:avLst/>
          </a:prstGeom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5366A66-D756-4C3E-9C11-C0811D1358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03549" y="1733550"/>
            <a:ext cx="7560966" cy="988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1572" tIns="50786" rIns="101572" bIns="50786" anchor="ctr"/>
          <a:lstStyle>
            <a:lvl1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1pPr>
            <a:lvl2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2pPr>
            <a:lvl3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3pPr>
            <a:lvl4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4pPr>
            <a:lvl5pPr algn="ctr"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2"/>
                </a:solidFill>
                <a:latin typeface="Helvetica 55 Roman" pitchFamily="34" charset="0"/>
                <a:ea typeface="新細明體" charset="-120"/>
              </a:defRPr>
            </a:lvl9pPr>
          </a:lstStyle>
          <a:p>
            <a:pPr algn="l">
              <a:lnSpc>
                <a:spcPct val="115000"/>
              </a:lnSpc>
            </a:pPr>
            <a:endParaRPr lang="en-US" altLang="en-US" sz="50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ea typeface="文鼎粗黑" pitchFamily="49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62805"/>
      </p:ext>
    </p:extLst>
  </p:cSld>
  <p:clrMapOvr>
    <a:masterClrMapping/>
  </p:clrMapOvr>
  <p:transition spd="slow">
    <p:zoom dir="in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5800" y="1200151"/>
            <a:ext cx="8229600" cy="3394472"/>
          </a:xfrm>
        </p:spPr>
        <p:txBody>
          <a:bodyPr/>
          <a:lstStyle>
            <a:lvl1pPr>
              <a:defRPr sz="2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  <a:lvl2pPr>
              <a:defRPr sz="2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>
              <a:defRPr sz="1800"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>
              <a:defRPr sz="1400"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>
              <a:defRPr sz="1200"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685800" y="233161"/>
            <a:ext cx="8229600" cy="584775"/>
          </a:xfrm>
        </p:spPr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>
          <a:xfrm>
            <a:off x="8763000" y="4857750"/>
            <a:ext cx="533400" cy="285750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A6790E0-BEF4-4832-A75A-9EE1100ED3A6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94283135"/>
      </p:ext>
    </p:extLst>
  </p:cSld>
  <p:clrMapOvr>
    <a:masterClrMapping/>
  </p:clrMapOvr>
  <p:transition spd="slow">
    <p:zoom dir="in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W title slide 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490" y="425669"/>
            <a:ext cx="7200000" cy="1960264"/>
          </a:xfrm>
        </p:spPr>
        <p:txBody>
          <a:bodyPr lIns="0" tIns="0" rIns="0" bIns="0" anchor="b">
            <a:normAutofit/>
          </a:bodyPr>
          <a:lstStyle>
            <a:lvl1pPr algn="l" rtl="0">
              <a:lnSpc>
                <a:spcPct val="100000"/>
              </a:lnSpc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  <a:br>
              <a:rPr lang="en-US" altLang="zh-TW" dirty="0"/>
            </a:br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9F332F9-A603-A418-4F1D-BE8820B850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22033" y="2688144"/>
            <a:ext cx="4276133" cy="10327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TW" dirty="0"/>
              <a:t>Presenter’s Name </a:t>
            </a:r>
          </a:p>
          <a:p>
            <a:pPr lvl="0"/>
            <a:r>
              <a:rPr lang="en-US" altLang="zh-TW" dirty="0"/>
              <a:t>Presenter’s Dept.</a:t>
            </a:r>
          </a:p>
          <a:p>
            <a:pPr lvl="0"/>
            <a:r>
              <a:rPr lang="en-US" altLang="zh-TW" dirty="0" err="1"/>
              <a:t>yyyy</a:t>
            </a:r>
            <a:r>
              <a:rPr lang="en-US" altLang="zh-TW" dirty="0"/>
              <a:t>/mm/dd</a:t>
            </a:r>
          </a:p>
          <a:p>
            <a:pPr lvl="0"/>
            <a:endParaRPr lang="en-US" altLang="zh-TW" dirty="0"/>
          </a:p>
        </p:txBody>
      </p:sp>
      <p:pic>
        <p:nvPicPr>
          <p:cNvPr id="5" name="圖片 4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BE5A06D7-9E47-DB88-5FA9-23A9929D28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0" y="4480145"/>
            <a:ext cx="1778329" cy="7694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380CBB-C9E3-E3C2-EFDE-60E68C44D538}"/>
              </a:ext>
            </a:extLst>
          </p:cNvPr>
          <p:cNvSpPr/>
          <p:nvPr userDrawn="1"/>
        </p:nvSpPr>
        <p:spPr>
          <a:xfrm>
            <a:off x="404218" y="2724969"/>
            <a:ext cx="36000" cy="482575"/>
          </a:xfrm>
          <a:prstGeom prst="rect">
            <a:avLst/>
          </a:prstGeom>
          <a:solidFill>
            <a:srgbClr val="A3CC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961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e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7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285" y="827773"/>
            <a:ext cx="8639999" cy="4023432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5pPr marL="13716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8661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33161"/>
            <a:ext cx="7848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TW" dirty="0"/>
              <a:t>Click to edit Master title style 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4941"/>
            <a:ext cx="7848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</a:p>
        </p:txBody>
      </p:sp>
      <p:sp>
        <p:nvSpPr>
          <p:cNvPr id="29717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86800" y="4869180"/>
            <a:ext cx="685800" cy="217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2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3AB1FE89-9AA8-4D5B-B63B-2A1E06624653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  <p:pic>
        <p:nvPicPr>
          <p:cNvPr id="3" name="圖片 2" descr="一張含有 文字, 名片, 信封 的圖片&#10;&#10;自動產生的描述">
            <a:extLst>
              <a:ext uri="{FF2B5EF4-FFF2-40B4-BE49-F238E27FC236}">
                <a16:creationId xmlns:a16="http://schemas.microsoft.com/office/drawing/2014/main" id="{7EDA0686-D766-8B0F-77B2-57E271CE150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692" y="361951"/>
            <a:ext cx="317215" cy="33483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B0AD7FC-C96C-1131-6E73-A54EDCF8E67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2600" y="4642498"/>
            <a:ext cx="9169200" cy="51825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9" r:id="rId3"/>
    <p:sldLayoutId id="2147483901" r:id="rId4"/>
    <p:sldLayoutId id="2147483902" r:id="rId5"/>
  </p:sldLayoutIdLst>
  <p:transition spd="slow">
    <p:zoom dir="in"/>
  </p:transition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Arial" charset="0"/>
          <a:ea typeface="新細明體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Arial" charset="0"/>
          <a:ea typeface="新細明體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Arial" charset="0"/>
          <a:ea typeface="新細明體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333333"/>
          </a:solidFill>
          <a:latin typeface="Arial" charset="0"/>
          <a:ea typeface="新細明體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Arial" charset="0"/>
          <a:ea typeface="新細明體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Arial" charset="0"/>
          <a:ea typeface="新細明體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Arial" charset="0"/>
          <a:ea typeface="新細明體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200">
          <a:solidFill>
            <a:srgbClr val="333333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4D4D4D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rgbClr val="4D4D4D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4D4D4D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rgbClr val="4D4D4D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microsoft.com/office/2007/relationships/hdphoto" Target="../media/hdphoto3.wdp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11" Type="http://schemas.microsoft.com/office/2007/relationships/hdphoto" Target="../media/hdphoto2.wdp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microsoft.com/office/2007/relationships/hdphoto" Target="../media/hdphoto1.wdp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2416400-2D2B-4745-DD04-2DFDAC868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44669"/>
            <a:ext cx="8316310" cy="252708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ptos" panose="020B0004020202020204" pitchFamily="34" charset="0"/>
              </a:rPr>
              <a:t>Yearly Achievement Report 2026</a:t>
            </a:r>
            <a:endParaRPr lang="en-US" sz="4000" b="1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B0BD2AF-17F7-F972-4342-2B9313048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2033" y="2672102"/>
            <a:ext cx="4276133" cy="1032709"/>
          </a:xfrm>
        </p:spPr>
        <p:txBody>
          <a:bodyPr/>
          <a:lstStyle/>
          <a:p>
            <a:r>
              <a:rPr lang="en-US" altLang="zh-TW" dirty="0"/>
              <a:t>Presenter’s Name : Brian Gabriel Alban</a:t>
            </a:r>
          </a:p>
          <a:p>
            <a:r>
              <a:rPr lang="en-US" altLang="zh-TW" dirty="0"/>
              <a:t>Presenter’s Dept.: EDT220</a:t>
            </a:r>
          </a:p>
          <a:p>
            <a:r>
              <a:rPr lang="en-US" altLang="zh-TW" dirty="0"/>
              <a:t>2026/10/03</a:t>
            </a:r>
          </a:p>
        </p:txBody>
      </p:sp>
    </p:spTree>
    <p:extLst>
      <p:ext uri="{BB962C8B-B14F-4D97-AF65-F5344CB8AC3E}">
        <p14:creationId xmlns:p14="http://schemas.microsoft.com/office/powerpoint/2010/main" val="1732538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97E9DE8C-87A1-ECE9-F561-305B1B1F9586}"/>
              </a:ext>
            </a:extLst>
          </p:cNvPr>
          <p:cNvGrpSpPr/>
          <p:nvPr/>
        </p:nvGrpSpPr>
        <p:grpSpPr>
          <a:xfrm>
            <a:off x="0" y="0"/>
            <a:ext cx="9138745" cy="5143500"/>
            <a:chOff x="9232" y="0"/>
            <a:chExt cx="9134768" cy="514350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C006E25-10E2-F1BB-465F-72D8EDC7E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2" y="0"/>
              <a:ext cx="9134768" cy="51435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A2C3D8E6-F96C-EF02-408B-E70B242C4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" y="2870918"/>
              <a:ext cx="4495800" cy="1758231"/>
            </a:xfrm>
            <a:prstGeom prst="rect">
              <a:avLst/>
            </a:prstGeom>
          </p:spPr>
        </p:pic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AC60E-04A3-F449-E916-C5494AAA9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72705" y="4958708"/>
            <a:ext cx="624650" cy="227520"/>
          </a:xfrm>
        </p:spPr>
        <p:txBody>
          <a:bodyPr/>
          <a:lstStyle/>
          <a:p>
            <a:fld id="{EACF097E-CCF1-4241-87BD-030B3D15E719}" type="slidenum">
              <a:rPr lang="zh-TW" altLang="en-US" sz="600" smtClean="0"/>
              <a:t>2</a:t>
            </a:fld>
            <a:endParaRPr lang="zh-TW" altLang="en-US" sz="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30284-660D-B8B6-B59B-AB5BE0F592A0}"/>
              </a:ext>
            </a:extLst>
          </p:cNvPr>
          <p:cNvSpPr txBox="1"/>
          <p:nvPr/>
        </p:nvSpPr>
        <p:spPr>
          <a:xfrm>
            <a:off x="1022996" y="1113938"/>
            <a:ext cx="24384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Brother Printer Label Printing SOW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1DDDA-BC1F-CE52-ECA4-6DF813134142}"/>
              </a:ext>
            </a:extLst>
          </p:cNvPr>
          <p:cNvSpPr txBox="1"/>
          <p:nvPr/>
        </p:nvSpPr>
        <p:spPr>
          <a:xfrm>
            <a:off x="1022996" y="1247409"/>
            <a:ext cx="20574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Fusion eye Batch Stop &amp; Start Test SOW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412659-19B4-EC89-AFC3-0035638EE989}"/>
              </a:ext>
            </a:extLst>
          </p:cNvPr>
          <p:cNvSpPr txBox="1"/>
          <p:nvPr/>
        </p:nvSpPr>
        <p:spPr>
          <a:xfrm>
            <a:off x="1026965" y="1380505"/>
            <a:ext cx="19812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Fusion eye Rack Auto-Lock Assignment SOW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FE663E-CD99-BA74-255B-781DDC5DCEC7}"/>
              </a:ext>
            </a:extLst>
          </p:cNvPr>
          <p:cNvSpPr txBox="1"/>
          <p:nvPr/>
        </p:nvSpPr>
        <p:spPr>
          <a:xfrm>
            <a:off x="1029777" y="1636147"/>
            <a:ext cx="19812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N2 Serial Number Manual Checkout SOW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2CB5A-3FFE-0E7D-54FB-76DB58EAE026}"/>
              </a:ext>
            </a:extLst>
          </p:cNvPr>
          <p:cNvSpPr txBox="1"/>
          <p:nvPr/>
        </p:nvSpPr>
        <p:spPr>
          <a:xfrm>
            <a:off x="1029777" y="1506993"/>
            <a:ext cx="24384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N2 UT3.2 Quark Tray Validation SOW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3071C-710F-7C4C-4902-368327DC2576}"/>
              </a:ext>
            </a:extLst>
          </p:cNvPr>
          <p:cNvSpPr txBox="1"/>
          <p:nvPr/>
        </p:nvSpPr>
        <p:spPr>
          <a:xfrm>
            <a:off x="1029777" y="1770451"/>
            <a:ext cx="2327592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PG548 INIT Failed Unable to connect port  SOW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7C771E-9249-F18E-A040-01953A3F1423}"/>
              </a:ext>
            </a:extLst>
          </p:cNvPr>
          <p:cNvSpPr txBox="1"/>
          <p:nvPr/>
        </p:nvSpPr>
        <p:spPr>
          <a:xfrm>
            <a:off x="1029777" y="2035711"/>
            <a:ext cx="24384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PG548 N2 EC_633 cpld-version-not-match SOW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7D53B-76C5-7698-9538-1ADA2C8B8669}"/>
              </a:ext>
            </a:extLst>
          </p:cNvPr>
          <p:cNvSpPr txBox="1"/>
          <p:nvPr/>
        </p:nvSpPr>
        <p:spPr>
          <a:xfrm>
            <a:off x="1029443" y="1899569"/>
            <a:ext cx="21336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PG548 N2 EC_766 Check DUT IP SOW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026CC6-D3D9-A154-F51B-688503BD0C6C}"/>
              </a:ext>
            </a:extLst>
          </p:cNvPr>
          <p:cNvSpPr txBox="1"/>
          <p:nvPr/>
        </p:nvSpPr>
        <p:spPr>
          <a:xfrm>
            <a:off x="1022644" y="2295907"/>
            <a:ext cx="24384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PG548 N2 EXITCODE[127] Troubleshooting SOW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CD87E-F60C-BCB8-5CFC-55B715CDC409}"/>
              </a:ext>
            </a:extLst>
          </p:cNvPr>
          <p:cNvSpPr txBox="1"/>
          <p:nvPr/>
        </p:nvSpPr>
        <p:spPr>
          <a:xfrm>
            <a:off x="1031700" y="2166789"/>
            <a:ext cx="19050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PG548 N2 EXITCODE[255] Troubleshooting SOW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913B42-605E-7337-4BD4-31FD063A1283}"/>
              </a:ext>
            </a:extLst>
          </p:cNvPr>
          <p:cNvSpPr txBox="1"/>
          <p:nvPr/>
        </p:nvSpPr>
        <p:spPr>
          <a:xfrm>
            <a:off x="1029443" y="2558111"/>
            <a:ext cx="18288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PG548 N2 INIT_PKG_FAIL_05 SOW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F96D16-A684-323B-271E-E5A6DEB71385}"/>
              </a:ext>
            </a:extLst>
          </p:cNvPr>
          <p:cNvSpPr txBox="1"/>
          <p:nvPr/>
        </p:nvSpPr>
        <p:spPr>
          <a:xfrm>
            <a:off x="1029443" y="2423813"/>
            <a:ext cx="2209800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PG548 N2 WIST_6 DUT FRU SN is mismatch SOW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C85562-B865-3214-4DE1-8F39DCDA3E85}"/>
              </a:ext>
            </a:extLst>
          </p:cNvPr>
          <p:cNvSpPr txBox="1"/>
          <p:nvPr/>
        </p:nvSpPr>
        <p:spPr>
          <a:xfrm>
            <a:off x="5411725" y="1126907"/>
            <a:ext cx="1466568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500" b="1" dirty="0">
                <a:solidFill>
                  <a:srgbClr val="0C1A29"/>
                </a:solidFill>
                <a:latin typeface="+mj-lt"/>
              </a:rPr>
              <a:t>PG548_26Q3_MP_Bianca_53517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56815-36D5-A77E-48E2-E646A1CE50DD}"/>
              </a:ext>
            </a:extLst>
          </p:cNvPr>
          <p:cNvSpPr txBox="1"/>
          <p:nvPr/>
        </p:nvSpPr>
        <p:spPr>
          <a:xfrm>
            <a:off x="5411726" y="1285471"/>
            <a:ext cx="1466565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5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PG548_26Q3_MP_Bianca_GB300_53457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44B59A-3E7C-D76C-679A-E237EDDE28CD}"/>
              </a:ext>
            </a:extLst>
          </p:cNvPr>
          <p:cNvSpPr txBox="1"/>
          <p:nvPr/>
        </p:nvSpPr>
        <p:spPr>
          <a:xfrm>
            <a:off x="5411726" y="1450924"/>
            <a:ext cx="1457885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5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PG548_26Q3_MP_Bianca_GB300_53412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78146-2DC0-58C9-9CA3-AB6048812D6F}"/>
              </a:ext>
            </a:extLst>
          </p:cNvPr>
          <p:cNvSpPr txBox="1"/>
          <p:nvPr/>
        </p:nvSpPr>
        <p:spPr>
          <a:xfrm>
            <a:off x="5418507" y="1587627"/>
            <a:ext cx="1465826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5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PG548_26Q2_MP_Bianca_GB300_53454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18C4C6-D9AE-534D-DF51-68D9DE359040}"/>
              </a:ext>
            </a:extLst>
          </p:cNvPr>
          <p:cNvSpPr txBox="1"/>
          <p:nvPr/>
        </p:nvSpPr>
        <p:spPr>
          <a:xfrm>
            <a:off x="5418507" y="1740307"/>
            <a:ext cx="1451104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5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PG548_26Q1_MP_Bianca_51526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86F6D-5465-161D-829A-250F4FF08434}"/>
              </a:ext>
            </a:extLst>
          </p:cNvPr>
          <p:cNvSpPr txBox="1"/>
          <p:nvPr/>
        </p:nvSpPr>
        <p:spPr>
          <a:xfrm>
            <a:off x="5419249" y="1896714"/>
            <a:ext cx="1465826" cy="222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50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PG548_26Q1_MP_Bianca_51652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75040A-238E-86AD-A2E7-C224A1228655}"/>
              </a:ext>
            </a:extLst>
          </p:cNvPr>
          <p:cNvSpPr txBox="1"/>
          <p:nvPr/>
        </p:nvSpPr>
        <p:spPr>
          <a:xfrm>
            <a:off x="6878294" y="1138158"/>
            <a:ext cx="659483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40000"/>
              </a:lnSpc>
            </a:pPr>
            <a:r>
              <a:rPr lang="en-US" sz="500" b="1" dirty="0">
                <a:solidFill>
                  <a:srgbClr val="00B050"/>
                </a:solidFill>
                <a:latin typeface="Arial Black" panose="020B0A04020102020204" pitchFamily="34" charset="0"/>
              </a:rPr>
              <a:t>Completed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4DF29D-FE0D-82CA-30A2-D92D029E973C}"/>
              </a:ext>
            </a:extLst>
          </p:cNvPr>
          <p:cNvSpPr txBox="1"/>
          <p:nvPr/>
        </p:nvSpPr>
        <p:spPr>
          <a:xfrm>
            <a:off x="6885075" y="1281636"/>
            <a:ext cx="652703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40000"/>
              </a:lnSpc>
            </a:pPr>
            <a:r>
              <a:rPr lang="en-US" sz="500" b="1" dirty="0">
                <a:solidFill>
                  <a:srgbClr val="00B050"/>
                </a:solidFill>
                <a:latin typeface="Arial Black" panose="020B0A04020102020204" pitchFamily="34" charset="0"/>
              </a:rPr>
              <a:t>Completed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CABC20-7719-1CA3-D5C3-E8D9A62AA18B}"/>
              </a:ext>
            </a:extLst>
          </p:cNvPr>
          <p:cNvSpPr txBox="1"/>
          <p:nvPr/>
        </p:nvSpPr>
        <p:spPr>
          <a:xfrm>
            <a:off x="6878293" y="1443837"/>
            <a:ext cx="659483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40000"/>
              </a:lnSpc>
            </a:pPr>
            <a:r>
              <a:rPr lang="en-US" sz="500" b="1" dirty="0">
                <a:solidFill>
                  <a:srgbClr val="00B050"/>
                </a:solidFill>
                <a:latin typeface="Arial Black" panose="020B0A04020102020204" pitchFamily="34" charset="0"/>
              </a:rPr>
              <a:t>Completed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943529-E53D-ADB3-8E65-5E52D6B5EBE0}"/>
              </a:ext>
            </a:extLst>
          </p:cNvPr>
          <p:cNvSpPr txBox="1"/>
          <p:nvPr/>
        </p:nvSpPr>
        <p:spPr>
          <a:xfrm>
            <a:off x="6884335" y="1591888"/>
            <a:ext cx="653442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40000"/>
              </a:lnSpc>
            </a:pPr>
            <a:r>
              <a:rPr lang="en-US" sz="500" b="1" dirty="0">
                <a:solidFill>
                  <a:srgbClr val="00B050"/>
                </a:solidFill>
                <a:latin typeface="Arial Black" panose="020B0A04020102020204" pitchFamily="34" charset="0"/>
              </a:rPr>
              <a:t>Completed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20911D-4798-E8D2-2A07-1C5D6226EA8D}"/>
              </a:ext>
            </a:extLst>
          </p:cNvPr>
          <p:cNvSpPr txBox="1"/>
          <p:nvPr/>
        </p:nvSpPr>
        <p:spPr>
          <a:xfrm>
            <a:off x="6884334" y="1742767"/>
            <a:ext cx="653442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40000"/>
              </a:lnSpc>
            </a:pPr>
            <a:r>
              <a:rPr lang="en-US" sz="500" b="1" dirty="0">
                <a:solidFill>
                  <a:srgbClr val="00B050"/>
                </a:solidFill>
                <a:latin typeface="Arial Black" panose="020B0A04020102020204" pitchFamily="34" charset="0"/>
              </a:rPr>
              <a:t>Completed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306AC2-9280-4BC1-435B-310C7E84BCAD}"/>
              </a:ext>
            </a:extLst>
          </p:cNvPr>
          <p:cNvSpPr txBox="1"/>
          <p:nvPr/>
        </p:nvSpPr>
        <p:spPr>
          <a:xfrm>
            <a:off x="6878293" y="1882635"/>
            <a:ext cx="659483" cy="245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40000"/>
              </a:lnSpc>
            </a:pPr>
            <a:r>
              <a:rPr lang="en-US" sz="500" b="1" dirty="0">
                <a:solidFill>
                  <a:srgbClr val="00B050"/>
                </a:solidFill>
                <a:latin typeface="Arial Black" panose="020B0A04020102020204" pitchFamily="34" charset="0"/>
              </a:rPr>
              <a:t>Completed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BCB223-235C-12A3-A89F-378909F57019}"/>
              </a:ext>
            </a:extLst>
          </p:cNvPr>
          <p:cNvSpPr txBox="1"/>
          <p:nvPr/>
        </p:nvSpPr>
        <p:spPr>
          <a:xfrm>
            <a:off x="7751326" y="1587627"/>
            <a:ext cx="505704" cy="40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1000" b="1" dirty="0">
                <a:solidFill>
                  <a:srgbClr val="132270"/>
                </a:solidFill>
                <a:latin typeface="Arial Black" panose="020B0A04020102020204" pitchFamily="34" charset="0"/>
              </a:rPr>
              <a:t>548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4E3BC38-8CF4-D291-CC61-E64662385343}"/>
              </a:ext>
            </a:extLst>
          </p:cNvPr>
          <p:cNvSpPr txBox="1"/>
          <p:nvPr/>
        </p:nvSpPr>
        <p:spPr>
          <a:xfrm>
            <a:off x="8499497" y="1597046"/>
            <a:ext cx="505704" cy="40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40000"/>
              </a:lnSpc>
            </a:pPr>
            <a:r>
              <a:rPr lang="en-US" sz="1000" b="1" dirty="0">
                <a:solidFill>
                  <a:srgbClr val="132270"/>
                </a:solidFill>
                <a:latin typeface="Arial Black" panose="020B0A04020102020204" pitchFamily="34" charset="0"/>
              </a:rPr>
              <a:t>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119C99-0A57-709B-AD86-F046B6DA2F48}"/>
              </a:ext>
            </a:extLst>
          </p:cNvPr>
          <p:cNvSpPr txBox="1"/>
          <p:nvPr/>
        </p:nvSpPr>
        <p:spPr>
          <a:xfrm>
            <a:off x="5609292" y="2116827"/>
            <a:ext cx="1228709" cy="723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7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Setup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Testing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FW Checking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Release to Production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896E90-489C-E2E9-740A-3C87FD334BC8}"/>
              </a:ext>
            </a:extLst>
          </p:cNvPr>
          <p:cNvSpPr txBox="1"/>
          <p:nvPr/>
        </p:nvSpPr>
        <p:spPr>
          <a:xfrm>
            <a:off x="554227" y="3191859"/>
            <a:ext cx="18549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Script Optimization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CEBB79C-7EF7-BF47-DC1B-6248655CC508}"/>
              </a:ext>
            </a:extLst>
          </p:cNvPr>
          <p:cNvSpPr txBox="1"/>
          <p:nvPr/>
        </p:nvSpPr>
        <p:spPr>
          <a:xfrm>
            <a:off x="489153" y="3804000"/>
            <a:ext cx="34088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POD 4 New Build PG548 Rack Automation - 54 Racks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98397A8C-6C42-E0AE-F266-AAD993AFF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456" y="3288346"/>
            <a:ext cx="2714519" cy="515456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0947E82-E5BB-D8C3-175B-7829DEC5E172}"/>
              </a:ext>
            </a:extLst>
          </p:cNvPr>
          <p:cNvSpPr txBox="1"/>
          <p:nvPr/>
        </p:nvSpPr>
        <p:spPr>
          <a:xfrm>
            <a:off x="1658521" y="3376025"/>
            <a:ext cx="1258884" cy="445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49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RN_Repair.sh</a:t>
            </a:r>
          </a:p>
          <a:p>
            <a:pPr algn="ctr">
              <a:lnSpc>
                <a:spcPct val="120000"/>
              </a:lnSpc>
            </a:pPr>
            <a:r>
              <a:rPr lang="en-US" sz="49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water_flow_check.sh</a:t>
            </a:r>
          </a:p>
          <a:p>
            <a:pPr algn="ctr">
              <a:lnSpc>
                <a:spcPct val="120000"/>
              </a:lnSpc>
            </a:pPr>
            <a:r>
              <a:rPr lang="en-US" sz="49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get_sfcs_GETNVFRU2.sh</a:t>
            </a:r>
          </a:p>
          <a:p>
            <a:pPr algn="ctr">
              <a:lnSpc>
                <a:spcPct val="120000"/>
              </a:lnSpc>
            </a:pPr>
            <a:r>
              <a:rPr lang="en-US" sz="49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Auto_Flash_PCIe_FW_local_vm.sh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4BBB96-96D8-01D8-4DE8-91B0C3FA80BE}"/>
              </a:ext>
            </a:extLst>
          </p:cNvPr>
          <p:cNvSpPr txBox="1"/>
          <p:nvPr/>
        </p:nvSpPr>
        <p:spPr>
          <a:xfrm>
            <a:off x="1874146" y="3257550"/>
            <a:ext cx="558999" cy="196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00" b="1" dirty="0">
                <a:solidFill>
                  <a:schemeClr val="bg1"/>
                </a:solidFill>
                <a:latin typeface="Aptos" panose="020B0004020202020204" pitchFamily="34" charset="0"/>
              </a:rPr>
              <a:t>Script Name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38D8849-15EA-3C6B-B5D3-609217C936D6}"/>
              </a:ext>
            </a:extLst>
          </p:cNvPr>
          <p:cNvSpPr txBox="1"/>
          <p:nvPr/>
        </p:nvSpPr>
        <p:spPr>
          <a:xfrm>
            <a:off x="2737945" y="3257550"/>
            <a:ext cx="613956" cy="19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00" b="1" dirty="0">
                <a:solidFill>
                  <a:schemeClr val="bg1"/>
                </a:solidFill>
                <a:latin typeface="+mj-lt"/>
              </a:rPr>
              <a:t>Original Time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8016B4-A0F3-1BF6-7C6E-B778B850544A}"/>
              </a:ext>
            </a:extLst>
          </p:cNvPr>
          <p:cNvSpPr txBox="1"/>
          <p:nvPr/>
        </p:nvSpPr>
        <p:spPr>
          <a:xfrm>
            <a:off x="3271345" y="3257550"/>
            <a:ext cx="664162" cy="19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00" b="1" dirty="0">
                <a:solidFill>
                  <a:schemeClr val="bg1"/>
                </a:solidFill>
                <a:latin typeface="+mj-lt"/>
              </a:rPr>
              <a:t>Optimize Time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ED5DA3-7775-E06D-9C27-A2D19B4299AD}"/>
              </a:ext>
            </a:extLst>
          </p:cNvPr>
          <p:cNvSpPr txBox="1"/>
          <p:nvPr/>
        </p:nvSpPr>
        <p:spPr>
          <a:xfrm>
            <a:off x="3781438" y="3257550"/>
            <a:ext cx="664162" cy="19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00" b="1" dirty="0">
                <a:solidFill>
                  <a:schemeClr val="bg1"/>
                </a:solidFill>
                <a:latin typeface="+mj-lt"/>
              </a:rPr>
              <a:t>Time Save (%)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B0A8F5-A67D-C8D7-A770-CADF8A432FFA}"/>
              </a:ext>
            </a:extLst>
          </p:cNvPr>
          <p:cNvSpPr txBox="1"/>
          <p:nvPr/>
        </p:nvSpPr>
        <p:spPr>
          <a:xfrm>
            <a:off x="2879265" y="3392479"/>
            <a:ext cx="473586" cy="417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180 Sec.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120 Sec.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180 Sec.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180 Sec.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ACBCF77-96D4-F46A-6B26-3D0714C882ED}"/>
              </a:ext>
            </a:extLst>
          </p:cNvPr>
          <p:cNvSpPr txBox="1"/>
          <p:nvPr/>
        </p:nvSpPr>
        <p:spPr>
          <a:xfrm>
            <a:off x="3373860" y="3392479"/>
            <a:ext cx="473586" cy="417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15 Sec.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10 Sec.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10 Sec.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10Sec.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9096E1-27D7-77D1-D473-81E7019660F6}"/>
              </a:ext>
            </a:extLst>
          </p:cNvPr>
          <p:cNvSpPr txBox="1"/>
          <p:nvPr/>
        </p:nvSpPr>
        <p:spPr>
          <a:xfrm>
            <a:off x="3874389" y="3392479"/>
            <a:ext cx="473586" cy="417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91.67%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91.67%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91.67%</a:t>
            </a:r>
          </a:p>
          <a:p>
            <a:pPr>
              <a:lnSpc>
                <a:spcPct val="120000"/>
              </a:lnSpc>
            </a:pPr>
            <a:r>
              <a:rPr lang="en-US" sz="450" b="1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94.44%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50EB20-1C20-F2B4-E9B3-33CB665A3429}"/>
              </a:ext>
            </a:extLst>
          </p:cNvPr>
          <p:cNvSpPr txBox="1"/>
          <p:nvPr/>
        </p:nvSpPr>
        <p:spPr>
          <a:xfrm>
            <a:off x="3323626" y="1148707"/>
            <a:ext cx="2076796" cy="1032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29000"/>
              </a:lnSpc>
            </a:pPr>
            <a:r>
              <a:rPr lang="en-US" sz="55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Fusion eye Batch Stop &amp; Start Test Standard Procedure</a:t>
            </a:r>
          </a:p>
          <a:p>
            <a:pPr>
              <a:lnSpc>
                <a:spcPct val="229000"/>
              </a:lnSpc>
            </a:pPr>
            <a:r>
              <a:rPr lang="en-US" sz="55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Fusion eye Rack Auto-Lock Assignment SOP</a:t>
            </a:r>
          </a:p>
          <a:p>
            <a:pPr>
              <a:lnSpc>
                <a:spcPct val="229000"/>
              </a:lnSpc>
            </a:pPr>
            <a:r>
              <a:rPr lang="en-US" sz="55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GB300_PG548 Rack set-up Standard Procedure</a:t>
            </a:r>
          </a:p>
          <a:p>
            <a:pPr>
              <a:lnSpc>
                <a:spcPct val="229000"/>
              </a:lnSpc>
            </a:pPr>
            <a:r>
              <a:rPr lang="en-US" sz="55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GB300_PG548 Validation Flow Standard Procedure</a:t>
            </a:r>
          </a:p>
          <a:p>
            <a:pPr>
              <a:lnSpc>
                <a:spcPct val="229000"/>
              </a:lnSpc>
            </a:pPr>
            <a:r>
              <a:rPr lang="en-US" sz="55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GB300PG548 Tray Manual Setup Standard Procedure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319A87B-4BB0-F428-B634-E22D5C444F18}"/>
              </a:ext>
            </a:extLst>
          </p:cNvPr>
          <p:cNvSpPr txBox="1"/>
          <p:nvPr/>
        </p:nvSpPr>
        <p:spPr>
          <a:xfrm>
            <a:off x="825845" y="3920321"/>
            <a:ext cx="2032398" cy="557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7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Network Checking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Cabling and Harnessing</a:t>
            </a:r>
          </a:p>
          <a:p>
            <a:pPr>
              <a:lnSpc>
                <a:spcPct val="150000"/>
              </a:lnSpc>
            </a:pPr>
            <a:r>
              <a:rPr lang="en-US" sz="7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Automation Test Assisting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235596F0-8330-E9F9-872B-B016BF0AB8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6314" y="3220134"/>
            <a:ext cx="342889" cy="19127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29647C5-3911-F4D1-115B-3B6ADA1FFE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7996" y="3400647"/>
            <a:ext cx="183729" cy="447074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1001372A-E20A-5A2C-DC85-7AA794C463C5}"/>
              </a:ext>
            </a:extLst>
          </p:cNvPr>
          <p:cNvSpPr txBox="1"/>
          <p:nvPr/>
        </p:nvSpPr>
        <p:spPr>
          <a:xfrm>
            <a:off x="5133743" y="3210045"/>
            <a:ext cx="255720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New TE DL Training Evaluation Report (2 new DL)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387886E-B816-F32B-9029-C7241F45E3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5114" y="3956006"/>
            <a:ext cx="273064" cy="273064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DCA00556-A37E-7AD0-07A3-411BDE9A9F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4310" y="4064624"/>
            <a:ext cx="183729" cy="447074"/>
          </a:xfrm>
          <a:prstGeom prst="rect">
            <a:avLst/>
          </a:prstGeom>
        </p:spPr>
      </p:pic>
      <p:sp>
        <p:nvSpPr>
          <p:cNvPr id="4096" name="TextBox 4095">
            <a:extLst>
              <a:ext uri="{FF2B5EF4-FFF2-40B4-BE49-F238E27FC236}">
                <a16:creationId xmlns:a16="http://schemas.microsoft.com/office/drawing/2014/main" id="{369F80C6-226C-57C1-9615-00846D2BB633}"/>
              </a:ext>
            </a:extLst>
          </p:cNvPr>
          <p:cNvSpPr txBox="1"/>
          <p:nvPr/>
        </p:nvSpPr>
        <p:spPr>
          <a:xfrm>
            <a:off x="5133743" y="3881313"/>
            <a:ext cx="27066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New Spartan Training Candidates (3 Participants)</a:t>
            </a:r>
          </a:p>
        </p:txBody>
      </p:sp>
      <p:sp>
        <p:nvSpPr>
          <p:cNvPr id="4097" name="TextBox 4096">
            <a:extLst>
              <a:ext uri="{FF2B5EF4-FFF2-40B4-BE49-F238E27FC236}">
                <a16:creationId xmlns:a16="http://schemas.microsoft.com/office/drawing/2014/main" id="{1312B80E-FD22-8A75-385F-D556534604A7}"/>
              </a:ext>
            </a:extLst>
          </p:cNvPr>
          <p:cNvSpPr txBox="1"/>
          <p:nvPr/>
        </p:nvSpPr>
        <p:spPr>
          <a:xfrm>
            <a:off x="5333303" y="3347858"/>
            <a:ext cx="2648609" cy="52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5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Tracked progress, recorded scores, and managed weekly</a:t>
            </a:r>
          </a:p>
          <a:p>
            <a:pPr>
              <a:lnSpc>
                <a:spcPct val="150000"/>
              </a:lnSpc>
            </a:pPr>
            <a:r>
              <a:rPr lang="en-US" sz="65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Delivered assessments, practical exams, and feedback</a:t>
            </a:r>
          </a:p>
          <a:p>
            <a:pPr>
              <a:lnSpc>
                <a:spcPct val="150000"/>
              </a:lnSpc>
            </a:pPr>
            <a:r>
              <a:rPr lang="en-US" sz="65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Evaluated and passed 2 participants</a:t>
            </a:r>
          </a:p>
        </p:txBody>
      </p:sp>
      <p:sp>
        <p:nvSpPr>
          <p:cNvPr id="4098" name="TextBox 4097">
            <a:extLst>
              <a:ext uri="{FF2B5EF4-FFF2-40B4-BE49-F238E27FC236}">
                <a16:creationId xmlns:a16="http://schemas.microsoft.com/office/drawing/2014/main" id="{DA1FE5A2-80C3-E044-2F5C-A5AF3FBEDB7C}"/>
              </a:ext>
            </a:extLst>
          </p:cNvPr>
          <p:cNvSpPr txBox="1"/>
          <p:nvPr/>
        </p:nvSpPr>
        <p:spPr>
          <a:xfrm>
            <a:off x="5319860" y="4013701"/>
            <a:ext cx="3324477" cy="52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4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Prepare Two Training Topics Related to the TE-Spartan/TE-DL Work Process</a:t>
            </a:r>
          </a:p>
          <a:p>
            <a:pPr>
              <a:lnSpc>
                <a:spcPct val="150000"/>
              </a:lnSpc>
            </a:pPr>
            <a:r>
              <a:rPr lang="en-US" sz="64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Schedule and Conduct Hands-On Training for the Candidates</a:t>
            </a:r>
          </a:p>
          <a:p>
            <a:pPr>
              <a:lnSpc>
                <a:spcPct val="150000"/>
              </a:lnSpc>
            </a:pPr>
            <a:r>
              <a:rPr lang="en-US" sz="64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</a:rPr>
              <a:t>Conduct Written and Practical Examinations, Then Evaluate the Performance</a:t>
            </a:r>
          </a:p>
        </p:txBody>
      </p:sp>
      <p:sp>
        <p:nvSpPr>
          <p:cNvPr id="4099" name="TextBox 4098">
            <a:extLst>
              <a:ext uri="{FF2B5EF4-FFF2-40B4-BE49-F238E27FC236}">
                <a16:creationId xmlns:a16="http://schemas.microsoft.com/office/drawing/2014/main" id="{11E0884F-3F6E-ACE5-47DC-2DF692E2B17D}"/>
              </a:ext>
            </a:extLst>
          </p:cNvPr>
          <p:cNvSpPr txBox="1"/>
          <p:nvPr/>
        </p:nvSpPr>
        <p:spPr>
          <a:xfrm>
            <a:off x="7517605" y="1000345"/>
            <a:ext cx="18549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5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" panose="020B0004020202020204" pitchFamily="34" charset="0"/>
              </a:rPr>
              <a:t>EC_814 PCIE Test Monitoring </a:t>
            </a:r>
          </a:p>
        </p:txBody>
      </p:sp>
      <p:pic>
        <p:nvPicPr>
          <p:cNvPr id="5128" name="Picture 8">
            <a:extLst>
              <a:ext uri="{FF2B5EF4-FFF2-40B4-BE49-F238E27FC236}">
                <a16:creationId xmlns:a16="http://schemas.microsoft.com/office/drawing/2014/main" id="{50134C82-3686-C82B-0A6F-0D3F7742E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961" b="89941" l="7096" r="89974">
                        <a14:foregroundMark x1="70638" y1="60645" x2="70638" y2="60645"/>
                        <a14:foregroundMark x1="69531" y1="60645" x2="69531" y2="60645"/>
                        <a14:foregroundMark x1="69857" y1="63965" x2="70964" y2="63379"/>
                        <a14:foregroundMark x1="82878" y1="42676" x2="82878" y2="42676"/>
                        <a14:foregroundMark x1="63477" y1="80469" x2="63477" y2="80469"/>
                        <a14:foregroundMark x1="69596" y1="75098" x2="69596" y2="75098"/>
                        <a14:foregroundMark x1="78320" y1="62012" x2="78320" y2="62012"/>
                        <a14:foregroundMark x1="78125" y1="57227" x2="78125" y2="57227"/>
                        <a14:foregroundMark x1="74154" y1="49219" x2="74154" y2="49219"/>
                        <a14:foregroundMark x1="75521" y1="52539" x2="75521" y2="52539"/>
                        <a14:foregroundMark x1="20768" y1="41211" x2="20768" y2="41211"/>
                        <a14:foregroundMark x1="19010" y1="47168" x2="19010" y2="47168"/>
                        <a14:foregroundMark x1="20768" y1="54004" x2="20768" y2="54004"/>
                        <a14:foregroundMark x1="22982" y1="60547" x2="22982" y2="60547"/>
                        <a14:foregroundMark x1="7096" y1="47168" x2="7878" y2="47168"/>
                        <a14:foregroundMark x1="16406" y1="54297" x2="16406" y2="54297"/>
                        <a14:foregroundMark x1="72005" y1="58789" x2="72005" y2="58789"/>
                        <a14:foregroundMark x1="66016" y1="64160" x2="66016" y2="64160"/>
                        <a14:foregroundMark x1="69596" y1="54590" x2="69596" y2="54590"/>
                        <a14:foregroundMark x1="72786" y1="65918" x2="72786" y2="65918"/>
                        <a14:foregroundMark x1="69792" y1="74512" x2="69792" y2="74512"/>
                        <a14:foregroundMark x1="74544" y1="72754" x2="74544" y2="72754"/>
                        <a14:foregroundMark x1="76172" y1="69434" x2="76172" y2="69434"/>
                        <a14:foregroundMark x1="77344" y1="67969" x2="77344" y2="67969"/>
                        <a14:foregroundMark x1="74349" y1="73047" x2="74349" y2="73047"/>
                        <a14:foregroundMark x1="76953" y1="70410" x2="76953" y2="70410"/>
                        <a14:foregroundMark x1="75326" y1="71875" x2="75326" y2="71875"/>
                        <a14:foregroundMark x1="68034" y1="75098" x2="68034" y2="75098"/>
                        <a14:foregroundMark x1="65234" y1="73926" x2="65234" y2="73926"/>
                        <a14:foregroundMark x1="76953" y1="54590" x2="76953" y2="54590"/>
                        <a14:foregroundMark x1="75521" y1="51563" x2="75521" y2="51563"/>
                        <a14:foregroundMark x1="75130" y1="50684" x2="75130" y2="50684"/>
                        <a14:foregroundMark x1="76367" y1="53125" x2="76367" y2="53125"/>
                        <a14:foregroundMark x1="75326" y1="50684" x2="75326" y2="506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378" y="3344405"/>
            <a:ext cx="727870" cy="485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4105">
            <a:extLst>
              <a:ext uri="{FF2B5EF4-FFF2-40B4-BE49-F238E27FC236}">
                <a16:creationId xmlns:a16="http://schemas.microsoft.com/office/drawing/2014/main" id="{C0BB2917-90FF-CA40-D615-1C9AB239B69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20" b="89362" l="9192" r="95087">
                        <a14:foregroundMark x1="24723" y1="56028" x2="25040" y2="56028"/>
                        <a14:foregroundMark x1="21236" y1="51773" x2="31696" y2="65957"/>
                        <a14:foregroundMark x1="14263" y1="42553" x2="28526" y2="63830"/>
                        <a14:foregroundMark x1="16482" y1="19149" x2="36133" y2="30496"/>
                        <a14:foregroundMark x1="12203" y1="24823" x2="25357" y2="38298"/>
                        <a14:foregroundMark x1="10143" y1="46099" x2="12361" y2="67376"/>
                        <a14:foregroundMark x1="9350" y1="63830" x2="17750" y2="84397"/>
                        <a14:foregroundMark x1="34548" y1="67376" x2="52615" y2="68794"/>
                        <a14:foregroundMark x1="37242" y1="17730" x2="53883" y2="17730"/>
                        <a14:foregroundMark x1="56577" y1="19149" x2="68463" y2="21986"/>
                        <a14:foregroundMark x1="68463" y1="21986" x2="81458" y2="12766"/>
                        <a14:foregroundMark x1="84945" y1="21986" x2="95087" y2="29078"/>
                        <a14:foregroundMark x1="82884" y1="77305" x2="62599" y2="81560"/>
                        <a14:foregroundMark x1="60539" y1="81560" x2="46276" y2="8085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40340" y="618968"/>
            <a:ext cx="1187656" cy="265387"/>
          </a:xfrm>
          <a:prstGeom prst="rect">
            <a:avLst/>
          </a:prstGeom>
        </p:spPr>
      </p:pic>
      <p:sp>
        <p:nvSpPr>
          <p:cNvPr id="4107" name="TextBox 4106">
            <a:extLst>
              <a:ext uri="{FF2B5EF4-FFF2-40B4-BE49-F238E27FC236}">
                <a16:creationId xmlns:a16="http://schemas.microsoft.com/office/drawing/2014/main" id="{C50FCE33-355A-C499-5F49-B0647576CAD7}"/>
              </a:ext>
            </a:extLst>
          </p:cNvPr>
          <p:cNvSpPr txBox="1"/>
          <p:nvPr/>
        </p:nvSpPr>
        <p:spPr>
          <a:xfrm>
            <a:off x="5861168" y="998169"/>
            <a:ext cx="558999" cy="196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00" b="1" dirty="0">
                <a:solidFill>
                  <a:schemeClr val="bg1"/>
                </a:solidFill>
                <a:latin typeface="Aptos" panose="020B0004020202020204" pitchFamily="34" charset="0"/>
              </a:rPr>
              <a:t>SKU Name</a:t>
            </a:r>
          </a:p>
        </p:txBody>
      </p:sp>
      <p:sp>
        <p:nvSpPr>
          <p:cNvPr id="4108" name="TextBox 4107">
            <a:extLst>
              <a:ext uri="{FF2B5EF4-FFF2-40B4-BE49-F238E27FC236}">
                <a16:creationId xmlns:a16="http://schemas.microsoft.com/office/drawing/2014/main" id="{BBA6DC94-A23F-8B40-D3C6-F041582F3B5B}"/>
              </a:ext>
            </a:extLst>
          </p:cNvPr>
          <p:cNvSpPr txBox="1"/>
          <p:nvPr/>
        </p:nvSpPr>
        <p:spPr>
          <a:xfrm>
            <a:off x="6982530" y="997741"/>
            <a:ext cx="558999" cy="196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500" b="1" dirty="0">
                <a:solidFill>
                  <a:schemeClr val="bg1"/>
                </a:solidFill>
                <a:latin typeface="Aptos" panose="020B0004020202020204" pitchFamily="34" charset="0"/>
              </a:rPr>
              <a:t>Remarks</a:t>
            </a:r>
          </a:p>
        </p:txBody>
      </p:sp>
      <p:pic>
        <p:nvPicPr>
          <p:cNvPr id="4109" name="Picture 4108">
            <a:extLst>
              <a:ext uri="{FF2B5EF4-FFF2-40B4-BE49-F238E27FC236}">
                <a16:creationId xmlns:a16="http://schemas.microsoft.com/office/drawing/2014/main" id="{53993885-281F-25D8-1C1E-59FEB485C983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70000"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0" b="94118" l="636" r="98517">
                        <a14:foregroundMark x1="66949" y1="11765" x2="66949" y2="11765"/>
                        <a14:foregroundMark x1="69280" y1="12255" x2="69280" y2="12255"/>
                        <a14:foregroundMark x1="69280" y1="12255" x2="69280" y2="12255"/>
                        <a14:foregroundMark x1="69703" y1="12255" x2="69703" y2="12255"/>
                        <a14:foregroundMark x1="68008" y1="8333" x2="68008" y2="8333"/>
                        <a14:foregroundMark x1="72669" y1="11765" x2="72669" y2="11765"/>
                        <a14:foregroundMark x1="24364" y1="15196" x2="24364" y2="15196"/>
                        <a14:foregroundMark x1="18008" y1="91667" x2="18008" y2="91667"/>
                        <a14:foregroundMark x1="18008" y1="91667" x2="18008" y2="91667"/>
                        <a14:foregroundMark x1="11441" y1="89706" x2="11441" y2="89706"/>
                        <a14:foregroundMark x1="11441" y1="89706" x2="11441" y2="89706"/>
                        <a14:foregroundMark x1="96610" y1="85784" x2="96610" y2="85784"/>
                        <a14:foregroundMark x1="96610" y1="85784" x2="96610" y2="85784"/>
                        <a14:foregroundMark x1="98517" y1="62255" x2="98517" y2="62255"/>
                        <a14:foregroundMark x1="98517" y1="62255" x2="98517" y2="62255"/>
                        <a14:foregroundMark x1="98517" y1="62255" x2="98517" y2="62255"/>
                        <a14:foregroundMark x1="96610" y1="67647" x2="96610" y2="67647"/>
                        <a14:foregroundMark x1="96610" y1="67647" x2="96610" y2="67647"/>
                        <a14:foregroundMark x1="96610" y1="67647" x2="96610" y2="67647"/>
                        <a14:foregroundMark x1="96610" y1="67647" x2="92162" y2="65932"/>
                        <a14:foregroundMark x1="3602" y1="50490" x2="3602" y2="50490"/>
                        <a14:foregroundMark x1="3602" y1="50490" x2="3602" y2="50490"/>
                        <a14:foregroundMark x1="3814" y1="50980" x2="3602" y2="54902"/>
                        <a14:foregroundMark x1="1059" y1="40196" x2="1907" y2="79902"/>
                        <a14:foregroundMark x1="4025" y1="20098" x2="2542" y2="52451"/>
                        <a14:foregroundMark x1="49263" y1="27567" x2="51359" y2="28383"/>
                        <a14:foregroundMark x1="42591" y1="24970" x2="45705" y2="26182"/>
                        <a14:foregroundMark x1="35982" y1="22398" x2="37576" y2="23018"/>
                        <a14:foregroundMark x1="15469" y1="14414" x2="27562" y2="19120"/>
                        <a14:foregroundMark x1="58828" y1="17811" x2="59958" y2="16176"/>
                        <a14:foregroundMark x1="5939" y1="890" x2="5417" y2="744"/>
                        <a14:foregroundMark x1="21205" y1="5152" x2="20114" y2="4847"/>
                        <a14:foregroundMark x1="31291" y1="7968" x2="30205" y2="7665"/>
                        <a14:foregroundMark x1="51907" y1="13725" x2="37741" y2="9770"/>
                        <a14:foregroundMark x1="82315" y1="9743" x2="96186" y2="15686"/>
                        <a14:foregroundMark x1="73305" y1="5882" x2="78715" y2="8200"/>
                        <a14:foregroundMark x1="96186" y1="15686" x2="94280" y2="17647"/>
                        <a14:foregroundMark x1="97246" y1="20098" x2="97881" y2="67157"/>
                        <a14:foregroundMark x1="95975" y1="78431" x2="84534" y2="94118"/>
                        <a14:foregroundMark x1="74364" y1="93137" x2="77966" y2="93627"/>
                        <a14:foregroundMark x1="56356" y1="91667" x2="66949" y2="93627"/>
                        <a14:foregroundMark x1="41314" y1="88235" x2="48941" y2="88235"/>
                        <a14:foregroundMark x1="26695" y1="92157" x2="34746" y2="88725"/>
                        <a14:foregroundMark x1="16578" y1="46078" x2="15678" y2="37745"/>
                        <a14:foregroundMark x1="16842" y1="48517" x2="16578" y2="46078"/>
                        <a14:foregroundMark x1="32428" y1="44608" x2="32627" y2="44118"/>
                        <a14:foregroundMark x1="31830" y1="46078" x2="32428" y2="44608"/>
                        <a14:foregroundMark x1="29436" y1="51961" x2="31830" y2="46078"/>
                        <a14:foregroundMark x1="29237" y1="52451" x2="29436" y2="51961"/>
                        <a14:foregroundMark x1="45975" y1="56863" x2="45339" y2="49020"/>
                        <a14:foregroundMark x1="57415" y1="54412" x2="56992" y2="51961"/>
                        <a14:foregroundMark x1="57415" y1="62255" x2="57203" y2="54412"/>
                        <a14:foregroundMark x1="63983" y1="56863" x2="64831" y2="44118"/>
                        <a14:foregroundMark x1="74364" y1="50490" x2="73093" y2="34314"/>
                        <a14:foregroundMark x1="79661" y1="63235" x2="80387" y2="57185"/>
                        <a14:foregroundMark x1="26907" y1="63725" x2="28390" y2="57843"/>
                        <a14:foregroundMark x1="31356" y1="60784" x2="29025" y2="58824"/>
                        <a14:foregroundMark x1="47246" y1="65196" x2="47458" y2="59314"/>
                        <a14:foregroundMark x1="41525" y1="39706" x2="44492" y2="37255"/>
                        <a14:foregroundMark x1="73729" y1="63235" x2="73729" y2="63235"/>
                        <a14:foregroundMark x1="47458" y1="39216" x2="47458" y2="39216"/>
                        <a14:foregroundMark x1="45339" y1="36275" x2="45339" y2="36275"/>
                        <a14:foregroundMark x1="16737" y1="65196" x2="16314" y2="52451"/>
                        <a14:foregroundMark x1="19703" y1="54412" x2="19915" y2="52451"/>
                        <a14:foregroundMark x1="8051" y1="12255" x2="11017" y2="13235"/>
                        <a14:foregroundMark x1="15254" y1="8824" x2="16949" y2="12255"/>
                        <a14:foregroundMark x1="82839" y1="49510" x2="82415" y2="45098"/>
                        <a14:foregroundMark x1="74576" y1="62255" x2="74788" y2="62745"/>
                        <a14:backgroundMark x1="88771" y1="36275" x2="88771" y2="36275"/>
                        <a14:backgroundMark x1="89407" y1="70098" x2="87500" y2="61275"/>
                        <a14:backgroundMark x1="83263" y1="81373" x2="92585" y2="63725"/>
                        <a14:backgroundMark x1="52754" y1="72549" x2="63771" y2="76961"/>
                        <a14:backgroundMark x1="65254" y1="24020" x2="71186" y2="25980"/>
                        <a14:backgroundMark x1="37712" y1="22549" x2="43008" y2="23529"/>
                        <a14:backgroundMark x1="25000" y1="28431" x2="34322" y2="28431"/>
                        <a14:backgroundMark x1="51483" y1="27941" x2="57627" y2="28431"/>
                        <a14:backgroundMark x1="47029" y1="26143" x2="49576" y2="26471"/>
                        <a14:backgroundMark x1="45763" y1="25980" x2="47002" y2="26140"/>
                        <a14:backgroundMark x1="80297" y1="2451" x2="84322" y2="2451"/>
                        <a14:backgroundMark x1="1271" y1="4412" x2="4873" y2="2941"/>
                        <a14:backgroundMark x1="32203" y1="4412" x2="39619" y2="2451"/>
                        <a14:backgroundMark x1="21398" y1="4412" x2="31568" y2="2451"/>
                        <a14:backgroundMark x1="20242" y1="2483" x2="20763" y2="2451"/>
                        <a14:backgroundMark x1="13775" y1="2876" x2="18415" y2="2594"/>
                        <a14:backgroundMark x1="13079" y1="6416" x2="15849" y2="7652"/>
                        <a14:backgroundMark x1="5297" y1="2941" x2="10205" y2="5133"/>
                        <a14:backgroundMark x1="2754" y1="97549" x2="3602" y2="99510"/>
                        <a14:backgroundMark x1="212" y1="37255" x2="212" y2="30882"/>
                        <a14:backgroundMark x1="78178" y1="53431" x2="78178" y2="53431"/>
                        <a14:backgroundMark x1="80297" y1="50490" x2="78390" y2="46569"/>
                        <a14:backgroundMark x1="31356" y1="51961" x2="31356" y2="51961"/>
                        <a14:backgroundMark x1="31780" y1="46078" x2="31780" y2="46078"/>
                        <a14:backgroundMark x1="32203" y1="43137" x2="32203" y2="43137"/>
                        <a14:backgroundMark x1="31992" y1="44608" x2="31992" y2="44608"/>
                        <a14:backgroundMark x1="19915" y1="46078" x2="19915" y2="46078"/>
                        <a14:backgroundMark x1="18432" y1="58824" x2="18432" y2="58824"/>
                        <a14:backgroundMark x1="18856" y1="58824" x2="18856" y2="58824"/>
                        <a14:backgroundMark x1="18856" y1="58824" x2="18856" y2="58824"/>
                        <a14:backgroundMark x1="18432" y1="56373" x2="18432" y2="56373"/>
                        <a14:backgroundMark x1="18432" y1="56373" x2="18432" y2="56373"/>
                        <a14:backgroundMark x1="19280" y1="56863" x2="19280" y2="56863"/>
                        <a14:backgroundMark x1="19280" y1="56863" x2="19280" y2="56863"/>
                        <a14:backgroundMark x1="18008" y1="62255" x2="18008" y2="62255"/>
                        <a14:backgroundMark x1="18008" y1="62255" x2="18008" y2="62255"/>
                        <a14:backgroundMark x1="19915" y1="57843" x2="19915" y2="57843"/>
                        <a14:backgroundMark x1="19915" y1="57353" x2="19915" y2="57353"/>
                        <a14:backgroundMark x1="17585" y1="61765" x2="17585" y2="61765"/>
                        <a14:backgroundMark x1="17585" y1="61765" x2="17585" y2="61765"/>
                        <a14:backgroundMark x1="17797" y1="60294" x2="17797" y2="60294"/>
                        <a14:backgroundMark x1="19068" y1="61765" x2="19068" y2="61765"/>
                        <a14:backgroundMark x1="19703" y1="59314" x2="19703" y2="59314"/>
                        <a14:backgroundMark x1="19280" y1="56863" x2="19280" y2="56863"/>
                        <a14:backgroundMark x1="18856" y1="64216" x2="20975" y2="60784"/>
                        <a14:backgroundMark x1="18828" y1="59738" x2="17797" y2="57353"/>
                        <a14:backgroundMark x1="19492" y1="61275" x2="18888" y2="59878"/>
                        <a14:backgroundMark x1="19132" y1="58245" x2="20127" y2="63235"/>
                        <a14:backgroundMark x1="18856" y1="56863" x2="19085" y2="5801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20141654">
            <a:off x="8328037" y="4258965"/>
            <a:ext cx="456921" cy="197482"/>
          </a:xfrm>
          <a:prstGeom prst="rect">
            <a:avLst/>
          </a:prstGeom>
          <a:ln>
            <a:solidFill>
              <a:srgbClr val="55BE37"/>
            </a:solidFill>
          </a:ln>
        </p:spPr>
      </p:pic>
      <p:pic>
        <p:nvPicPr>
          <p:cNvPr id="4111" name="Picture 4110">
            <a:extLst>
              <a:ext uri="{FF2B5EF4-FFF2-40B4-BE49-F238E27FC236}">
                <a16:creationId xmlns:a16="http://schemas.microsoft.com/office/drawing/2014/main" id="{7BF4A964-EDE8-73C1-4B6B-1C057481683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49712" y="2234434"/>
            <a:ext cx="872588" cy="343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84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14224FF-98D1-A067-60B1-385FF161EDF3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outerShdw blurRad="50800" dist="38100" dir="2700000" sx="58000" sy="58000" algn="tl" rotWithShape="0">
              <a:prstClr val="black">
                <a:alpha val="59000"/>
              </a:prstClr>
            </a:outerShdw>
          </a:effectLst>
        </p:spPr>
        <p:txBody>
          <a:bodyPr/>
          <a:lstStyle/>
          <a:p>
            <a:r>
              <a:rPr lang="en-US" altLang="zh-TW" dirty="0"/>
              <a:t>Thank You!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366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22476564D0044C9E979BAAE6D5B9F5" ma:contentTypeVersion="7" ma:contentTypeDescription="Create a new document." ma:contentTypeScope="" ma:versionID="b802173bc230f32df7e86177258b4ad2">
  <xsd:schema xmlns:xsd="http://www.w3.org/2001/XMLSchema" xmlns:xs="http://www.w3.org/2001/XMLSchema" xmlns:p="http://schemas.microsoft.com/office/2006/metadata/properties" xmlns:ns2="a849e401-53aa-46c7-8af2-60524ff5a26b" targetNamespace="http://schemas.microsoft.com/office/2006/metadata/properties" ma:root="true" ma:fieldsID="0fecd2f072fcafc5bc7110025b665fa5" ns2:_="">
    <xsd:import namespace="a849e401-53aa-46c7-8af2-60524ff5a2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49e401-53aa-46c7-8af2-60524ff5a2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72E048-6D95-4F4A-AAC2-23061DD5CB1A}">
  <ds:schemaRefs>
    <ds:schemaRef ds:uri="http://purl.org/dc/terms/"/>
    <ds:schemaRef ds:uri="http://www.w3.org/XML/1998/namespace"/>
    <ds:schemaRef ds:uri="a849e401-53aa-46c7-8af2-60524ff5a26b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CCCE4332-1872-48DE-A9C7-55051CD302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74B7CF-A9DD-4470-A62A-37237BE091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49e401-53aa-46c7-8af2-60524ff5a2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372408</TotalTime>
  <Words>375</Words>
  <Application>Microsoft Office PowerPoint</Application>
  <PresentationFormat>On-screen Show (16:9)</PresentationFormat>
  <Paragraphs>77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微軟正黑體</vt:lpstr>
      <vt:lpstr>Aptos</vt:lpstr>
      <vt:lpstr>Arial</vt:lpstr>
      <vt:lpstr>Arial Black</vt:lpstr>
      <vt:lpstr>Default Design</vt:lpstr>
      <vt:lpstr>Yearly Achievement Report 2026</vt:lpstr>
      <vt:lpstr>PowerPoint Presentation</vt:lpstr>
      <vt:lpstr>Thank You!</vt:lpstr>
    </vt:vector>
  </TitlesOfParts>
  <Company>pica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Perry</dc:creator>
  <cp:lastModifiedBy>ALBAN BRIAN GABRIEL ADEVA/WIH/Wistron</cp:lastModifiedBy>
  <cp:revision>1192</cp:revision>
  <dcterms:created xsi:type="dcterms:W3CDTF">2008-08-07T15:44:20Z</dcterms:created>
  <dcterms:modified xsi:type="dcterms:W3CDTF">2026-10-03T07:10:40Z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0x0101007322476564D0044C9E979BAAE6D5B9F5</vt:lpwstr>
  </property>
</Properties>
</file>