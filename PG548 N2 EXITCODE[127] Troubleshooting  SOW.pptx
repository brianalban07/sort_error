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1"/>
  </p:notesMasterIdLst>
  <p:sldIdLst>
    <p:sldId id="288" r:id="rId5"/>
    <p:sldId id="278" r:id="rId6"/>
    <p:sldId id="258" r:id="rId7"/>
    <p:sldId id="2147376605" r:id="rId8"/>
    <p:sldId id="290" r:id="rId9"/>
    <p:sldId id="285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C54"/>
    <a:srgbClr val="006C93"/>
    <a:srgbClr val="A5D259"/>
    <a:srgbClr val="005C83"/>
    <a:srgbClr val="0080A4"/>
    <a:srgbClr val="FEAD29"/>
    <a:srgbClr val="FF8700"/>
    <a:srgbClr val="9FC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7D41A-6314-4314-860B-FBFD271456EF}" v="2" dt="2024-07-29T07:48:50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4660"/>
  </p:normalViewPr>
  <p:slideViewPr>
    <p:cSldViewPr snapToGrid="0">
      <p:cViewPr varScale="1">
        <p:scale>
          <a:sx n="81" d="100"/>
          <a:sy n="81" d="100"/>
        </p:scale>
        <p:origin x="80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5C341-7210-4F38-ABD8-D11202178823}" type="datetimeFigureOut">
              <a:rPr lang="zh-TW" altLang="en-US" smtClean="0"/>
              <a:t>2026/6/15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D69D4-DD47-449F-B599-13612730EB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10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1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White_Section_header">
    <p:bg>
      <p:bgPr>
        <a:solidFill>
          <a:srgbClr val="006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6584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4" name="圖片 3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E13D9758-F35A-B624-C859-4FE06BC91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84" y="4576146"/>
            <a:ext cx="1311215" cy="5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5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16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63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59E75-9596-4784-B8E5-06F828D80529}"/>
              </a:ext>
            </a:extLst>
          </p:cNvPr>
          <p:cNvSpPr/>
          <p:nvPr userDrawn="1"/>
        </p:nvSpPr>
        <p:spPr>
          <a:xfrm>
            <a:off x="0" y="0"/>
            <a:ext cx="173255" cy="510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66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1200151"/>
            <a:ext cx="8229600" cy="3394472"/>
          </a:xfr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685800" y="233161"/>
            <a:ext cx="8229600" cy="58477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763000" y="4857750"/>
            <a:ext cx="533400" cy="28575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A6790E0-BEF4-4832-A75A-9EE1100ED3A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48345464"/>
      </p:ext>
    </p:extLst>
  </p:cSld>
  <p:clrMapOvr>
    <a:masterClrMapping/>
  </p:clrMapOvr>
  <p:transition spd="slow"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27228A8-04AD-9D1E-3CC6-18257DDBC3ED}"/>
              </a:ext>
            </a:extLst>
          </p:cNvPr>
          <p:cNvSpPr/>
          <p:nvPr userDrawn="1"/>
        </p:nvSpPr>
        <p:spPr>
          <a:xfrm>
            <a:off x="0" y="0"/>
            <a:ext cx="57600" cy="432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536B603-0E7E-A823-3FA4-C1932C849D9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0" y="4905756"/>
            <a:ext cx="9144000" cy="2377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285" y="85708"/>
            <a:ext cx="8640000" cy="4869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232826" y="4878474"/>
            <a:ext cx="5141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1436069-A2B2-D84E-7D35-D879AA8B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85" y="718956"/>
            <a:ext cx="8639999" cy="4132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2275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3" r:id="rId2"/>
    <p:sldLayoutId id="2147483681" r:id="rId3"/>
    <p:sldLayoutId id="2147483684" r:id="rId4"/>
    <p:sldLayoutId id="2147483667" r:id="rId5"/>
    <p:sldLayoutId id="2147483682" r:id="rId6"/>
    <p:sldLayoutId id="2147483683" r:id="rId7"/>
    <p:sldLayoutId id="2147483685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489" y="425669"/>
            <a:ext cx="8032531" cy="1960264"/>
          </a:xfrm>
        </p:spPr>
        <p:txBody>
          <a:bodyPr/>
          <a:lstStyle/>
          <a:p>
            <a:br>
              <a:rPr lang="en-US" altLang="zh-TW" b="1" dirty="0"/>
            </a:br>
            <a:r>
              <a:rPr lang="en-US" altLang="zh-TW" dirty="0"/>
              <a:t>SOW</a:t>
            </a:r>
            <a:br>
              <a:rPr lang="en-US" altLang="zh-TW" dirty="0"/>
            </a:br>
            <a:r>
              <a:rPr lang="en-US" altLang="zh-TW" dirty="0"/>
              <a:t>PG548 N2 EXITCODE[127] Troubleshooting</a:t>
            </a:r>
            <a:endParaRPr lang="zh-TW" altLang="en-US" sz="1400" b="1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B4C45AAB-6DEF-44DD-891B-28BCC4EAC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033" y="2672102"/>
            <a:ext cx="4276133" cy="1032709"/>
          </a:xfrm>
        </p:spPr>
        <p:txBody>
          <a:bodyPr/>
          <a:lstStyle/>
          <a:p>
            <a:r>
              <a:rPr lang="en-US" altLang="zh-TW" dirty="0"/>
              <a:t>Presenter’s Name : Brian Gabriel A. Alban</a:t>
            </a:r>
          </a:p>
          <a:p>
            <a:r>
              <a:rPr lang="en-US" altLang="zh-TW" dirty="0"/>
              <a:t>Presenter’s Dept.: EDT220</a:t>
            </a:r>
          </a:p>
          <a:p>
            <a:r>
              <a:rPr lang="en-US" altLang="zh-TW" dirty="0"/>
              <a:t>2026/06/15</a:t>
            </a:r>
          </a:p>
        </p:txBody>
      </p:sp>
    </p:spTree>
    <p:extLst>
      <p:ext uri="{BB962C8B-B14F-4D97-AF65-F5344CB8AC3E}">
        <p14:creationId xmlns:p14="http://schemas.microsoft.com/office/powerpoint/2010/main" val="2554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FB44788-736C-D090-CD10-5822AF654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lang="en-US" altLang="en-US" sz="2000" dirty="0">
                <a:solidFill>
                  <a:prstClr val="black"/>
                </a:solidFill>
                <a:latin typeface="Arial" panose="020B0604020202020204"/>
              </a:rPr>
              <a:t>Model: PG548</a:t>
            </a:r>
          </a:p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Function/Usage: Fixing the EXITCODE[127]</a:t>
            </a:r>
          </a:p>
          <a:p>
            <a:pPr marR="0" lvl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Purpose:</a:t>
            </a:r>
            <a:endParaRPr kumimoji="0" lang="en-US" altLang="zh-TW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軟正黑體" panose="020B0604030504040204" pitchFamily="34" charset="-120"/>
              <a:cs typeface="+mn-cs"/>
            </a:endParaRPr>
          </a:p>
          <a:p>
            <a:pPr lvl="1">
              <a:lnSpc>
                <a:spcPct val="100000"/>
              </a:lnSpc>
              <a:spcBef>
                <a:spcPts val="750"/>
              </a:spcBef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Fix EXITCODE[127] issues during testing.</a:t>
            </a:r>
          </a:p>
          <a:p>
            <a:pPr lvl="1">
              <a:lnSpc>
                <a:spcPct val="100000"/>
              </a:lnSpc>
              <a:spcBef>
                <a:spcPts val="750"/>
              </a:spcBef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Ensure reliable test results.</a:t>
            </a:r>
          </a:p>
          <a:p>
            <a:pPr lvl="1">
              <a:lnSpc>
                <a:spcPct val="100000"/>
              </a:lnSpc>
              <a:spcBef>
                <a:spcPts val="750"/>
              </a:spcBef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Minimize downtime.</a:t>
            </a:r>
          </a:p>
          <a:p>
            <a:pPr lvl="1">
              <a:lnSpc>
                <a:spcPct val="100000"/>
              </a:lnSpc>
              <a:spcBef>
                <a:spcPts val="750"/>
              </a:spcBef>
              <a:defRPr/>
            </a:pPr>
            <a:r>
              <a: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軟正黑體" panose="020B0604030504040204" pitchFamily="34" charset="-120"/>
                <a:cs typeface="+mn-cs"/>
              </a:rPr>
              <a:t>Establish a clear troubleshooting process.</a:t>
            </a:r>
          </a:p>
          <a:p>
            <a:endParaRPr lang="zh-TW" altLang="en-US" sz="2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479FB43-4268-5DA8-02B6-2EF0D70B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Background</a:t>
            </a:r>
            <a:endParaRPr lang="zh-TW" altLang="en-US" b="1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998EF65E-2C3D-DC8E-E29C-506D8C2C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626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09EA0D-68B1-4A69-ADBA-E14891F55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A6790E0-BEF4-4832-A75A-9EE1100ED3A6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sp>
        <p:nvSpPr>
          <p:cNvPr id="10" name="標題 2">
            <a:extLst>
              <a:ext uri="{FF2B5EF4-FFF2-40B4-BE49-F238E27FC236}">
                <a16:creationId xmlns:a16="http://schemas.microsoft.com/office/drawing/2014/main" id="{5D35E0E6-86EC-00C7-F0C2-292C0147F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439" y="209550"/>
            <a:ext cx="8523516" cy="35394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+mn-lt"/>
                <a:ea typeface="Microsoft JhengHei" panose="020B0604030504040204" pitchFamily="34" charset="-120"/>
              </a:rPr>
              <a:t>PG548 N2 EXITCODE[127] Troubleshooting SOW</a:t>
            </a:r>
            <a:endParaRPr lang="zh-TW" altLang="en-US" sz="2800" b="1" dirty="0">
              <a:latin typeface="+mn-lt"/>
              <a:ea typeface="Microsoft JhengHei" panose="020B0604030504040204" pitchFamily="34" charset="-12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B6A2D4-A9DA-83F1-C3F3-3C8F03E8773A}"/>
              </a:ext>
            </a:extLst>
          </p:cNvPr>
          <p:cNvGraphicFramePr>
            <a:graphicFrameLocks noGrp="1"/>
          </p:cNvGraphicFramePr>
          <p:nvPr/>
        </p:nvGraphicFramePr>
        <p:xfrm>
          <a:off x="370114" y="636548"/>
          <a:ext cx="8523516" cy="422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436">
                  <a:extLst>
                    <a:ext uri="{9D8B030D-6E8A-4147-A177-3AD203B41FA5}">
                      <a16:colId xmlns:a16="http://schemas.microsoft.com/office/drawing/2014/main" val="88472988"/>
                    </a:ext>
                  </a:extLst>
                </a:gridCol>
                <a:gridCol w="4322619">
                  <a:extLst>
                    <a:ext uri="{9D8B030D-6E8A-4147-A177-3AD203B41FA5}">
                      <a16:colId xmlns:a16="http://schemas.microsoft.com/office/drawing/2014/main" val="625124085"/>
                    </a:ext>
                  </a:extLst>
                </a:gridCol>
                <a:gridCol w="2311461">
                  <a:extLst>
                    <a:ext uri="{9D8B030D-6E8A-4147-A177-3AD203B41FA5}">
                      <a16:colId xmlns:a16="http://schemas.microsoft.com/office/drawing/2014/main" val="1815112030"/>
                    </a:ext>
                  </a:extLst>
                </a:gridCol>
              </a:tblGrid>
              <a:tr h="36573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4180207"/>
                  </a:ext>
                </a:extLst>
              </a:tr>
              <a:tr h="38554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925595"/>
                  </a:ext>
                </a:extLst>
              </a:tr>
            </a:tbl>
          </a:graphicData>
        </a:graphic>
      </p:graphicFrame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4970F24F-DEC4-DCE5-A587-F404668FEB55}"/>
              </a:ext>
            </a:extLst>
          </p:cNvPr>
          <p:cNvSpPr/>
          <p:nvPr/>
        </p:nvSpPr>
        <p:spPr>
          <a:xfrm>
            <a:off x="4522785" y="1262495"/>
            <a:ext cx="612119" cy="166255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1329BA-965F-5272-DE17-83D294B9CEE4}"/>
              </a:ext>
            </a:extLst>
          </p:cNvPr>
          <p:cNvSpPr txBox="1"/>
          <p:nvPr/>
        </p:nvSpPr>
        <p:spPr>
          <a:xfrm>
            <a:off x="370114" y="3565930"/>
            <a:ext cx="180187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Retest Credentials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16238A-AC2B-2FEB-4EE3-AB8B7CC8415D}"/>
              </a:ext>
            </a:extLst>
          </p:cNvPr>
          <p:cNvCxnSpPr>
            <a:cxnSpLocks/>
            <a:stCxn id="3" idx="2"/>
            <a:endCxn id="34" idx="0"/>
          </p:cNvCxnSpPr>
          <p:nvPr/>
        </p:nvCxnSpPr>
        <p:spPr>
          <a:xfrm>
            <a:off x="4828845" y="1428750"/>
            <a:ext cx="877" cy="134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B996056F-E884-DC26-835C-0A36A8BF4A73}"/>
              </a:ext>
            </a:extLst>
          </p:cNvPr>
          <p:cNvSpPr/>
          <p:nvPr/>
        </p:nvSpPr>
        <p:spPr>
          <a:xfrm>
            <a:off x="4326802" y="1563371"/>
            <a:ext cx="1005840" cy="182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failed location at Fusioneye/Odin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D4517D95-C18A-5950-C721-89B2644E709F}"/>
              </a:ext>
            </a:extLst>
          </p:cNvPr>
          <p:cNvSpPr/>
          <p:nvPr/>
        </p:nvSpPr>
        <p:spPr>
          <a:xfrm>
            <a:off x="4516435" y="3992995"/>
            <a:ext cx="612119" cy="166255"/>
          </a:xfrm>
          <a:prstGeom prst="flowChartTerminator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</a:t>
            </a:r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A94F71F6-09B3-3D2F-4FB6-F2E00939EBEE}"/>
              </a:ext>
            </a:extLst>
          </p:cNvPr>
          <p:cNvSpPr/>
          <p:nvPr/>
        </p:nvSpPr>
        <p:spPr>
          <a:xfrm>
            <a:off x="3522240" y="1673017"/>
            <a:ext cx="73735" cy="714215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350CC7-CBAC-524C-52E5-134816AA3C8A}"/>
              </a:ext>
            </a:extLst>
          </p:cNvPr>
          <p:cNvSpPr txBox="1"/>
          <p:nvPr/>
        </p:nvSpPr>
        <p:spPr>
          <a:xfrm>
            <a:off x="2958139" y="1863321"/>
            <a:ext cx="54474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00" dirty="0">
                <a:latin typeface="Calibri" panose="020F0502020204030204" pitchFamily="34" charset="0"/>
                <a:cs typeface="Calibri" panose="020F0502020204030204" pitchFamily="34" charset="0"/>
              </a:rPr>
              <a:t>CT: 3 mins</a:t>
            </a:r>
          </a:p>
          <a:p>
            <a:r>
              <a:rPr lang="en-US" sz="600" dirty="0">
                <a:latin typeface="Calibri" panose="020F0502020204030204" pitchFamily="34" charset="0"/>
                <a:cs typeface="Calibri" panose="020F0502020204030204" pitchFamily="34" charset="0"/>
              </a:rPr>
              <a:t>PIC: 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17073E-9BF4-4CF2-8C75-139E1A1F1ABD}"/>
              </a:ext>
            </a:extLst>
          </p:cNvPr>
          <p:cNvSpPr txBox="1"/>
          <p:nvPr/>
        </p:nvSpPr>
        <p:spPr>
          <a:xfrm>
            <a:off x="337638" y="1095880"/>
            <a:ext cx="229995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Failed Location in Fusioneye/Odin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71981E-3664-4EDF-9E14-CC07F282187E}"/>
              </a:ext>
            </a:extLst>
          </p:cNvPr>
          <p:cNvSpPr txBox="1"/>
          <p:nvPr/>
        </p:nvSpPr>
        <p:spPr>
          <a:xfrm>
            <a:off x="8389729" y="4654377"/>
            <a:ext cx="5670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PIC: TE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BC6E7F-F757-4F75-93EB-C96B10AB870F}"/>
              </a:ext>
            </a:extLst>
          </p:cNvPr>
          <p:cNvSpPr txBox="1"/>
          <p:nvPr/>
        </p:nvSpPr>
        <p:spPr>
          <a:xfrm>
            <a:off x="1718983" y="4311612"/>
            <a:ext cx="5670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PIC: TE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3E8701D-8105-4A24-8C45-81A519D9DC3F}"/>
              </a:ext>
            </a:extLst>
          </p:cNvPr>
          <p:cNvSpPr txBox="1"/>
          <p:nvPr/>
        </p:nvSpPr>
        <p:spPr>
          <a:xfrm>
            <a:off x="2259563" y="3185532"/>
            <a:ext cx="70910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00" dirty="0">
                <a:latin typeface="Calibri" panose="020F0502020204030204" pitchFamily="34" charset="0"/>
                <a:cs typeface="Calibri" panose="020F0502020204030204" pitchFamily="34" charset="0"/>
              </a:rPr>
              <a:t>CT: 5 mins</a:t>
            </a:r>
          </a:p>
          <a:p>
            <a:r>
              <a:rPr lang="en-US" sz="600" dirty="0">
                <a:latin typeface="Calibri" panose="020F0502020204030204" pitchFamily="34" charset="0"/>
                <a:cs typeface="Calibri" panose="020F0502020204030204" pitchFamily="34" charset="0"/>
              </a:rPr>
              <a:t>PIC: TE/TSC/PE</a:t>
            </a:r>
          </a:p>
        </p:txBody>
      </p:sp>
      <p:sp>
        <p:nvSpPr>
          <p:cNvPr id="180" name="Left Brace 179">
            <a:extLst>
              <a:ext uri="{FF2B5EF4-FFF2-40B4-BE49-F238E27FC236}">
                <a16:creationId xmlns:a16="http://schemas.microsoft.com/office/drawing/2014/main" id="{6D1AB46E-5938-4C75-9E5C-8DF973C54BDB}"/>
              </a:ext>
            </a:extLst>
          </p:cNvPr>
          <p:cNvSpPr/>
          <p:nvPr/>
        </p:nvSpPr>
        <p:spPr>
          <a:xfrm>
            <a:off x="2901555" y="2564816"/>
            <a:ext cx="139116" cy="1554480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FAC66E2C-5022-4FF8-8393-7E703E91173E}"/>
              </a:ext>
            </a:extLst>
          </p:cNvPr>
          <p:cNvSpPr txBox="1"/>
          <p:nvPr/>
        </p:nvSpPr>
        <p:spPr>
          <a:xfrm>
            <a:off x="421729" y="1935872"/>
            <a:ext cx="180187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to MIC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9663F18-516E-4E6E-BE25-EB769C7807B7}"/>
              </a:ext>
            </a:extLst>
          </p:cNvPr>
          <p:cNvSpPr txBox="1"/>
          <p:nvPr/>
        </p:nvSpPr>
        <p:spPr>
          <a:xfrm>
            <a:off x="6669915" y="1145157"/>
            <a:ext cx="180187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 Reroute Output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51CF96D7-B292-42E5-96D3-2470DEA7C71C}"/>
              </a:ext>
            </a:extLst>
          </p:cNvPr>
          <p:cNvSpPr txBox="1"/>
          <p:nvPr/>
        </p:nvSpPr>
        <p:spPr>
          <a:xfrm>
            <a:off x="6690360" y="2333984"/>
            <a:ext cx="21855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pt-BR" sz="9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Passed Result in Fusioneye/Odin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36DE54A-807A-4979-9F72-9263ADD8B462}"/>
              </a:ext>
            </a:extLst>
          </p:cNvPr>
          <p:cNvSpPr/>
          <p:nvPr/>
        </p:nvSpPr>
        <p:spPr>
          <a:xfrm>
            <a:off x="4319573" y="3631045"/>
            <a:ext cx="1005840" cy="182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 to Next Process (Endorse to PD)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25C72CF-9169-4413-B46B-9ACE66E4D8AD}"/>
              </a:ext>
            </a:extLst>
          </p:cNvPr>
          <p:cNvCxnSpPr>
            <a:cxnSpLocks/>
            <a:stCxn id="93" idx="2"/>
            <a:endCxn id="35" idx="0"/>
          </p:cNvCxnSpPr>
          <p:nvPr/>
        </p:nvCxnSpPr>
        <p:spPr>
          <a:xfrm>
            <a:off x="4822493" y="3813925"/>
            <a:ext cx="2" cy="179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1" name="Picture 90">
            <a:extLst>
              <a:ext uri="{FF2B5EF4-FFF2-40B4-BE49-F238E27FC236}">
                <a16:creationId xmlns:a16="http://schemas.microsoft.com/office/drawing/2014/main" id="{9B6C9183-6465-422E-9C78-173A061F0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68" y="3808557"/>
            <a:ext cx="1431731" cy="460619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53D20F71-E900-4081-B0AE-753A9DADFB71}"/>
              </a:ext>
            </a:extLst>
          </p:cNvPr>
          <p:cNvSpPr txBox="1"/>
          <p:nvPr/>
        </p:nvSpPr>
        <p:spPr>
          <a:xfrm>
            <a:off x="457200" y="2629952"/>
            <a:ext cx="180187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 Rework/Retest SN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397404F-6BCF-4059-9FD8-111EF67D2450}"/>
              </a:ext>
            </a:extLst>
          </p:cNvPr>
          <p:cNvSpPr/>
          <p:nvPr/>
        </p:nvSpPr>
        <p:spPr>
          <a:xfrm>
            <a:off x="3162634" y="2756268"/>
            <a:ext cx="1005840" cy="1828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TSC/PE/FAE Check &amp; Debug/Repair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AB0132D-766F-41B6-820F-9C4FCEF99BED}"/>
              </a:ext>
            </a:extLst>
          </p:cNvPr>
          <p:cNvSpPr/>
          <p:nvPr/>
        </p:nvSpPr>
        <p:spPr>
          <a:xfrm>
            <a:off x="4325922" y="1902746"/>
            <a:ext cx="1005840" cy="198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Check out and reroute to 1</a:t>
            </a:r>
            <a:r>
              <a:rPr lang="en-US" sz="600" b="1" baseline="30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Stage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0DCBE0B-900F-4D76-9DA6-3E026A0DFEDA}"/>
              </a:ext>
            </a:extLst>
          </p:cNvPr>
          <p:cNvCxnSpPr>
            <a:cxnSpLocks/>
            <a:stCxn id="34" idx="2"/>
            <a:endCxn id="87" idx="0"/>
          </p:cNvCxnSpPr>
          <p:nvPr/>
        </p:nvCxnSpPr>
        <p:spPr>
          <a:xfrm flipH="1">
            <a:off x="4828842" y="1746251"/>
            <a:ext cx="880" cy="1564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4" name="TextBox 60">
            <a:extLst>
              <a:ext uri="{FF2B5EF4-FFF2-40B4-BE49-F238E27FC236}">
                <a16:creationId xmlns:a16="http://schemas.microsoft.com/office/drawing/2014/main" id="{21EEB91B-AFF9-42B1-BCA1-E53A03E434D9}"/>
              </a:ext>
            </a:extLst>
          </p:cNvPr>
          <p:cNvSpPr txBox="1"/>
          <p:nvPr/>
        </p:nvSpPr>
        <p:spPr>
          <a:xfrm>
            <a:off x="5195670" y="2700955"/>
            <a:ext cx="326011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</a:t>
            </a:r>
          </a:p>
        </p:txBody>
      </p:sp>
      <p:sp>
        <p:nvSpPr>
          <p:cNvPr id="155" name="TextBox 60">
            <a:extLst>
              <a:ext uri="{FF2B5EF4-FFF2-40B4-BE49-F238E27FC236}">
                <a16:creationId xmlns:a16="http://schemas.microsoft.com/office/drawing/2014/main" id="{6B527964-3E38-42CD-9C7F-53658B084156}"/>
              </a:ext>
            </a:extLst>
          </p:cNvPr>
          <p:cNvSpPr txBox="1"/>
          <p:nvPr/>
        </p:nvSpPr>
        <p:spPr>
          <a:xfrm>
            <a:off x="4144888" y="2700955"/>
            <a:ext cx="408304" cy="18466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Fail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585E91B-9B75-481F-A656-E340331ABAA2}"/>
              </a:ext>
            </a:extLst>
          </p:cNvPr>
          <p:cNvGrpSpPr/>
          <p:nvPr/>
        </p:nvGrpSpPr>
        <p:grpSpPr>
          <a:xfrm>
            <a:off x="4379331" y="2593089"/>
            <a:ext cx="892043" cy="530165"/>
            <a:chOff x="5797163" y="1789282"/>
            <a:chExt cx="750217" cy="530165"/>
          </a:xfrm>
        </p:grpSpPr>
        <p:sp>
          <p:nvSpPr>
            <p:cNvPr id="71" name="Flowchart: Decision 10">
              <a:extLst>
                <a:ext uri="{FF2B5EF4-FFF2-40B4-BE49-F238E27FC236}">
                  <a16:creationId xmlns:a16="http://schemas.microsoft.com/office/drawing/2014/main" id="{84FC70A8-51DE-4316-9C0A-62A5905196AB}"/>
                </a:ext>
              </a:extLst>
            </p:cNvPr>
            <p:cNvSpPr/>
            <p:nvPr/>
          </p:nvSpPr>
          <p:spPr>
            <a:xfrm>
              <a:off x="5797163" y="1789282"/>
              <a:ext cx="750217" cy="530165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8BD1A92-619E-40F7-84B2-E445A4B1A98A}"/>
                </a:ext>
              </a:extLst>
            </p:cNvPr>
            <p:cNvSpPr txBox="1"/>
            <p:nvPr/>
          </p:nvSpPr>
          <p:spPr>
            <a:xfrm>
              <a:off x="5852536" y="1956800"/>
              <a:ext cx="64008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" b="1" dirty="0">
                  <a:latin typeface="Calibri" panose="020F0502020204030204" pitchFamily="34" charset="0"/>
                  <a:cs typeface="Calibri" panose="020F0502020204030204" pitchFamily="34" charset="0"/>
                </a:rPr>
                <a:t>Testing Result?</a:t>
              </a:r>
              <a:endPara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3569A34-3457-4315-8FE3-847B34652889}"/>
              </a:ext>
            </a:extLst>
          </p:cNvPr>
          <p:cNvCxnSpPr>
            <a:cxnSpLocks/>
            <a:stCxn id="79" idx="2"/>
            <a:endCxn id="75" idx="1"/>
          </p:cNvCxnSpPr>
          <p:nvPr/>
        </p:nvCxnSpPr>
        <p:spPr>
          <a:xfrm rot="16200000" flipH="1">
            <a:off x="3774792" y="2829909"/>
            <a:ext cx="434719" cy="65319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C7E2B338-B463-42BF-BDB0-DFE24702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75" y="1363208"/>
            <a:ext cx="1564650" cy="5726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2DD091-AA55-4168-A615-669BEC1D6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53" y="2174812"/>
            <a:ext cx="999407" cy="439665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0A843C8-B58D-479C-8D73-C5B944735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56" y="2903588"/>
            <a:ext cx="901681" cy="58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954ECE-1236-4322-AE28-3DD1F243F2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5290" y="2590995"/>
            <a:ext cx="1823738" cy="911379"/>
          </a:xfrm>
          <a:prstGeom prst="rect">
            <a:avLst/>
          </a:prstGeom>
        </p:spPr>
      </p:pic>
      <p:pic>
        <p:nvPicPr>
          <p:cNvPr id="62" name="Picture 2">
            <a:extLst>
              <a:ext uri="{FF2B5EF4-FFF2-40B4-BE49-F238E27FC236}">
                <a16:creationId xmlns:a16="http://schemas.microsoft.com/office/drawing/2014/main" id="{A487B610-5AEB-4279-8DD8-1F2A434D4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742" y="1415906"/>
            <a:ext cx="1212650" cy="78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BAE49EC9-DD31-434F-9407-414B7E66FA77}"/>
              </a:ext>
            </a:extLst>
          </p:cNvPr>
          <p:cNvSpPr/>
          <p:nvPr/>
        </p:nvSpPr>
        <p:spPr>
          <a:xfrm>
            <a:off x="4325922" y="2251050"/>
            <a:ext cx="1005840" cy="198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Retest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3170C9D-3225-49E5-80C2-38E828482046}"/>
              </a:ext>
            </a:extLst>
          </p:cNvPr>
          <p:cNvSpPr/>
          <p:nvPr/>
        </p:nvSpPr>
        <p:spPr>
          <a:xfrm>
            <a:off x="4318749" y="3274791"/>
            <a:ext cx="1005840" cy="198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Retest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3A5C032-47A5-4746-8EAF-D4800DFF6E14}"/>
              </a:ext>
            </a:extLst>
          </p:cNvPr>
          <p:cNvCxnSpPr>
            <a:cxnSpLocks/>
            <a:stCxn id="87" idx="2"/>
            <a:endCxn id="73" idx="0"/>
          </p:cNvCxnSpPr>
          <p:nvPr/>
        </p:nvCxnSpPr>
        <p:spPr>
          <a:xfrm>
            <a:off x="4828842" y="2100897"/>
            <a:ext cx="0" cy="1501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C15010A-D254-4D74-8A47-7A5813718C98}"/>
              </a:ext>
            </a:extLst>
          </p:cNvPr>
          <p:cNvCxnSpPr>
            <a:cxnSpLocks/>
            <a:stCxn id="73" idx="2"/>
            <a:endCxn id="71" idx="0"/>
          </p:cNvCxnSpPr>
          <p:nvPr/>
        </p:nvCxnSpPr>
        <p:spPr>
          <a:xfrm flipH="1">
            <a:off x="4825353" y="2449201"/>
            <a:ext cx="3489" cy="143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79F1C6F-D5A2-4CF8-B27F-5F9205FD49EE}"/>
              </a:ext>
            </a:extLst>
          </p:cNvPr>
          <p:cNvCxnSpPr>
            <a:cxnSpLocks/>
            <a:stCxn id="75" idx="2"/>
            <a:endCxn id="93" idx="0"/>
          </p:cNvCxnSpPr>
          <p:nvPr/>
        </p:nvCxnSpPr>
        <p:spPr>
          <a:xfrm>
            <a:off x="4821669" y="3472942"/>
            <a:ext cx="824" cy="1581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12A31E3-DF0F-4F48-9808-2531A25DE3D9}"/>
              </a:ext>
            </a:extLst>
          </p:cNvPr>
          <p:cNvCxnSpPr>
            <a:cxnSpLocks/>
            <a:stCxn id="71" idx="1"/>
            <a:endCxn id="79" idx="3"/>
          </p:cNvCxnSpPr>
          <p:nvPr/>
        </p:nvCxnSpPr>
        <p:spPr>
          <a:xfrm flipH="1" flipV="1">
            <a:off x="4168474" y="2847708"/>
            <a:ext cx="210857" cy="104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A8CC581C-53C5-4113-86F7-4B5773CAB0E1}"/>
              </a:ext>
            </a:extLst>
          </p:cNvPr>
          <p:cNvCxnSpPr>
            <a:cxnSpLocks/>
            <a:stCxn id="71" idx="3"/>
            <a:endCxn id="93" idx="3"/>
          </p:cNvCxnSpPr>
          <p:nvPr/>
        </p:nvCxnSpPr>
        <p:spPr>
          <a:xfrm>
            <a:off x="5271374" y="2858172"/>
            <a:ext cx="54039" cy="864313"/>
          </a:xfrm>
          <a:prstGeom prst="bentConnector3">
            <a:avLst>
              <a:gd name="adj1" fmla="val 5230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67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AAB680DD-234B-B142-6D3F-7BF5314B1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8" y="322542"/>
            <a:ext cx="8534400" cy="486993"/>
          </a:xfrm>
        </p:spPr>
        <p:txBody>
          <a:bodyPr>
            <a:noAutofit/>
          </a:bodyPr>
          <a:lstStyle/>
          <a:p>
            <a: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  <a:t>Troubleshooting Process – Step-by-Step</a:t>
            </a:r>
            <a:br>
              <a:rPr lang="en-US" sz="2800" dirty="0"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zh-TW" altLang="en-US" sz="24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24CE93-3F2C-7142-C69D-B2EBD98B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648ACB-4443-D608-4992-E1F961E4B6EC}"/>
              </a:ext>
            </a:extLst>
          </p:cNvPr>
          <p:cNvSpPr txBox="1"/>
          <p:nvPr/>
        </p:nvSpPr>
        <p:spPr>
          <a:xfrm>
            <a:off x="168166" y="979436"/>
            <a:ext cx="80660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Check Failed Location at Fusioneye/Odin: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Identify the failed location in Fusioneye or Odin.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Check Stage in MIC:</a:t>
            </a:r>
          </a:p>
          <a:p>
            <a:pPr marL="628650" lvl="1" indent="-17145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If the stage is FLA above please Reroute or back to 1</a:t>
            </a:r>
            <a:r>
              <a:rPr lang="en-US" sz="1400" baseline="30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Stage.</a:t>
            </a:r>
          </a:p>
          <a:p>
            <a:pPr marL="628650" lvl="1" indent="-171450">
              <a:buSzPct val="100000"/>
              <a:buFont typeface="Wingdings" panose="05000000000000000000" pitchFamily="2" charset="2"/>
              <a:buChar char="v"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If the stage is already 1</a:t>
            </a:r>
            <a:r>
              <a:rPr lang="en-US" sz="1400" baseline="300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</a:t>
            </a: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Stage directly Retest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Retest DUT: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14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Once the Stage is ok directly retest and wait result if will pass the FLA or if will fail</a:t>
            </a:r>
            <a:endParaRPr lang="en-US" sz="1600" b="1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Go to the Next Process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If still failed: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Endorse the </a:t>
            </a:r>
            <a:r>
              <a:rPr lang="en-US" sz="16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DUT</a:t>
            </a: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TSC or FAE Repair then Retest if done repair.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If result pass: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Endorse the </a:t>
            </a:r>
            <a:r>
              <a:rPr lang="en-US" sz="16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DUT</a:t>
            </a:r>
            <a:r>
              <a:rPr lang="en-US" sz="16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to PD the next process.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endParaRPr lang="en-US" sz="16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412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b="1" dirty="0"/>
            </a:br>
            <a:r>
              <a:rPr lang="en-US" altLang="zh-TW" dirty="0"/>
              <a:t>Thank You!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0292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14224FF-98D1-A067-60B1-385FF16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sx="58000" sy="58000" algn="tl" rotWithShape="0">
              <a:prstClr val="black">
                <a:alpha val="59000"/>
              </a:prstClr>
            </a:outerShdw>
          </a:effectLst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3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tron_standard_16x9_2024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C7672327E7F04C8823F4F12A60080F" ma:contentTypeVersion="13" ma:contentTypeDescription="Create a new document." ma:contentTypeScope="" ma:versionID="4a85306de6caad608bd48f9733e64bbe">
  <xsd:schema xmlns:xsd="http://www.w3.org/2001/XMLSchema" xmlns:xs="http://www.w3.org/2001/XMLSchema" xmlns:p="http://schemas.microsoft.com/office/2006/metadata/properties" xmlns:ns3="e3221d20-eaa3-4e55-b1bb-d3bfe400b3e1" xmlns:ns4="f5cf55dd-5c4e-4d05-a181-d6f4423e082d" targetNamespace="http://schemas.microsoft.com/office/2006/metadata/properties" ma:root="true" ma:fieldsID="eb061ff54b36187f786a8eabf2ef57a9" ns3:_="" ns4:_="">
    <xsd:import namespace="e3221d20-eaa3-4e55-b1bb-d3bfe400b3e1"/>
    <xsd:import namespace="f5cf55dd-5c4e-4d05-a181-d6f4423e082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21d20-eaa3-4e55-b1bb-d3bfe400b3e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f55dd-5c4e-4d05-a181-d6f4423e082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3221d20-eaa3-4e55-b1bb-d3bfe400b3e1" xsi:nil="true"/>
  </documentManagement>
</p:properties>
</file>

<file path=customXml/itemProps1.xml><?xml version="1.0" encoding="utf-8"?>
<ds:datastoreItem xmlns:ds="http://schemas.openxmlformats.org/officeDocument/2006/customXml" ds:itemID="{ECBE940F-A28C-46AF-9B9A-9F64DFDA07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A8E87C-F154-412D-8439-5684D356C5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221d20-eaa3-4e55-b1bb-d3bfe400b3e1"/>
    <ds:schemaRef ds:uri="f5cf55dd-5c4e-4d05-a181-d6f4423e08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E4420F-7E8D-401A-A831-DC15CCB5A0FC}">
  <ds:schemaRefs>
    <ds:schemaRef ds:uri="http://purl.org/dc/elements/1.1/"/>
    <ds:schemaRef ds:uri="http://www.w3.org/XML/1998/namespace"/>
    <ds:schemaRef ds:uri="e3221d20-eaa3-4e55-b1bb-d3bfe400b3e1"/>
    <ds:schemaRef ds:uri="http://purl.org/dc/terms/"/>
    <ds:schemaRef ds:uri="f5cf55dd-5c4e-4d05-a181-d6f4423e082d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3736</TotalTime>
  <Words>282</Words>
  <Application>Microsoft Office PowerPoint</Application>
  <PresentationFormat>On-screen Show (16:9)</PresentationFormat>
  <Paragraphs>57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微軟正黑體</vt:lpstr>
      <vt:lpstr>Arial</vt:lpstr>
      <vt:lpstr>Calibri</vt:lpstr>
      <vt:lpstr>Wingdings</vt:lpstr>
      <vt:lpstr>Wistron_standard_16x9_2024</vt:lpstr>
      <vt:lpstr> SOW PG548 N2 EXITCODE[127] Troubleshooting</vt:lpstr>
      <vt:lpstr>Background</vt:lpstr>
      <vt:lpstr>PG548 N2 EXITCODE[127] Troubleshooting SOW</vt:lpstr>
      <vt:lpstr>Troubleshooting Process – Step-by-Step </vt:lpstr>
      <vt:lpstr> Thank You!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Honda Yao/WHQ/Wistron</dc:creator>
  <cp:lastModifiedBy>ALBAN BRIAN GABRIEL ADEVA/WIH/Wistron</cp:lastModifiedBy>
  <cp:revision>66</cp:revision>
  <dcterms:created xsi:type="dcterms:W3CDTF">2024-06-12T08:50:18Z</dcterms:created>
  <dcterms:modified xsi:type="dcterms:W3CDTF">2026-06-15T12:19:18Z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0x01010000C7672327E7F04C8823F4F12A60080F</vt:lpwstr>
  </property>
</Properties>
</file>